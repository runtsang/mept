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9" r:id="rId2"/>
  </p:sldIdLst>
  <p:sldSz cx="14400213" cy="21599525"/>
  <p:notesSz cx="6858000" cy="9144000"/>
  <p:embeddedFontLst>
    <p:embeddedFont>
      <p:font typeface="Microsoft YaHei" panose="020B0503020204020204" pitchFamily="34" charset="-122"/>
      <p:regular r:id="rId3"/>
      <p:bold r:id="rId4"/>
    </p:embeddedFont>
    <p:embeddedFont>
      <p:font typeface="Microsoft YaHei" panose="020B0503020204020204" pitchFamily="34" charset="-122"/>
      <p:regular r:id="rId3"/>
      <p:bold r:id="rId4"/>
    </p:embeddedFont>
  </p:embeddedFontLst>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46" userDrawn="1">
          <p15:clr>
            <a:srgbClr val="A4A3A4"/>
          </p15:clr>
        </p15:guide>
        <p15:guide id="2" pos="45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6902"/>
    <a:srgbClr val="E60012"/>
    <a:srgbClr val="FFE8CC"/>
    <a:srgbClr val="C34E5C"/>
    <a:srgbClr val="C75967"/>
    <a:srgbClr val="C04655"/>
    <a:srgbClr val="ED1C24"/>
    <a:srgbClr val="FFFFFF"/>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58" autoAdjust="0"/>
    <p:restoredTop sz="94660"/>
  </p:normalViewPr>
  <p:slideViewPr>
    <p:cSldViewPr snapToGrid="0" showGuides="1">
      <p:cViewPr>
        <p:scale>
          <a:sx n="78" d="100"/>
          <a:sy n="78" d="100"/>
        </p:scale>
        <p:origin x="2504" y="144"/>
      </p:cViewPr>
      <p:guideLst>
        <p:guide orient="horz" pos="6846"/>
        <p:guide pos="459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font" Target="fonts/font1.fntdata"/><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font" Target="fonts/font2.fntdata"/><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15906" y="2880133"/>
            <a:ext cx="11573859" cy="8096123"/>
          </a:xfrm>
        </p:spPr>
        <p:txBody>
          <a:bodyPr lIns="90000" tIns="46800" rIns="90000" bIns="46800" anchor="b" anchorCtr="0">
            <a:normAutofit/>
          </a:bodyPr>
          <a:lstStyle>
            <a:lvl1pPr algn="ctr">
              <a:defRPr sz="945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415906" y="11214378"/>
            <a:ext cx="11573859" cy="4637695"/>
          </a:xfrm>
        </p:spPr>
        <p:txBody>
          <a:bodyPr lIns="90000" tIns="46800" rIns="90000" bIns="46800">
            <a:normAutofit/>
          </a:bodyPr>
          <a:lstStyle>
            <a:lvl1pPr marL="0" indent="0" algn="ctr">
              <a:lnSpc>
                <a:spcPct val="110000"/>
              </a:lnSpc>
              <a:buNone/>
              <a:defRPr sz="3780" spc="200"/>
            </a:lvl1pPr>
            <a:lvl2pPr marL="720090" indent="0" algn="ctr">
              <a:buNone/>
              <a:defRPr sz="3150"/>
            </a:lvl2pPr>
            <a:lvl3pPr marL="1440180" indent="0" algn="ctr">
              <a:buNone/>
              <a:defRPr sz="2835"/>
            </a:lvl3pPr>
            <a:lvl4pPr marL="2160270" indent="0" algn="ctr">
              <a:buNone/>
              <a:defRPr sz="2520"/>
            </a:lvl4pPr>
            <a:lvl5pPr marL="2879725" indent="0" algn="ctr">
              <a:buNone/>
              <a:defRPr sz="2520"/>
            </a:lvl5pPr>
            <a:lvl6pPr marL="3599815" indent="0" algn="ctr">
              <a:buNone/>
              <a:defRPr sz="2520"/>
            </a:lvl6pPr>
            <a:lvl7pPr marL="4319905" indent="0" algn="ctr">
              <a:buNone/>
              <a:defRPr sz="2520"/>
            </a:lvl7pPr>
            <a:lvl8pPr marL="5039995" indent="0" algn="ctr">
              <a:buNone/>
              <a:defRPr sz="2520"/>
            </a:lvl8pPr>
            <a:lvl9pPr marL="5760085" indent="0" algn="ctr">
              <a:buNone/>
              <a:defRPr sz="252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2025/10/1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718583" y="4694391"/>
            <a:ext cx="12955748" cy="14990301"/>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2351339" y="12121506"/>
            <a:ext cx="9175748" cy="2415230"/>
          </a:xfrm>
        </p:spPr>
        <p:txBody>
          <a:bodyPr lIns="90000" tIns="46800" rIns="90000" bIns="46800" anchor="b" anchorCtr="0">
            <a:normAutofit/>
          </a:bodyPr>
          <a:lstStyle>
            <a:lvl1pPr>
              <a:defRPr sz="693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2351339" y="14536736"/>
            <a:ext cx="9175748" cy="2732725"/>
          </a:xfrm>
        </p:spPr>
        <p:txBody>
          <a:bodyPr lIns="90000" tIns="46800" rIns="90000" bIns="46800">
            <a:normAutofit/>
          </a:bodyPr>
          <a:lstStyle>
            <a:lvl1pPr marL="0" indent="0">
              <a:buNone/>
              <a:defRPr sz="2835">
                <a:solidFill>
                  <a:schemeClr val="tx1">
                    <a:lumMod val="65000"/>
                    <a:lumOff val="35000"/>
                  </a:schemeClr>
                </a:solidFill>
              </a:defRPr>
            </a:lvl1pPr>
            <a:lvl2pPr marL="720090" indent="0">
              <a:buNone/>
              <a:defRPr sz="2520">
                <a:solidFill>
                  <a:schemeClr val="tx1">
                    <a:tint val="75000"/>
                  </a:schemeClr>
                </a:solidFill>
              </a:defRPr>
            </a:lvl2pPr>
            <a:lvl3pPr marL="1440180" indent="0">
              <a:buNone/>
              <a:defRPr sz="2520">
                <a:solidFill>
                  <a:schemeClr val="tx1">
                    <a:tint val="75000"/>
                  </a:schemeClr>
                </a:solidFill>
              </a:defRPr>
            </a:lvl3pPr>
            <a:lvl4pPr marL="2160270" indent="0">
              <a:buNone/>
              <a:defRPr sz="2520">
                <a:solidFill>
                  <a:schemeClr val="tx1">
                    <a:tint val="75000"/>
                  </a:schemeClr>
                </a:solidFill>
              </a:defRPr>
            </a:lvl4pPr>
            <a:lvl5pPr marL="2879725" indent="0">
              <a:buNone/>
              <a:defRPr sz="2520">
                <a:solidFill>
                  <a:schemeClr val="tx1">
                    <a:tint val="75000"/>
                  </a:schemeClr>
                </a:solidFill>
              </a:defRPr>
            </a:lvl5pPr>
            <a:lvl6pPr marL="3599815" indent="0">
              <a:buNone/>
              <a:defRPr sz="2520">
                <a:solidFill>
                  <a:schemeClr val="tx1">
                    <a:tint val="75000"/>
                  </a:schemeClr>
                </a:solidFill>
              </a:defRPr>
            </a:lvl6pPr>
            <a:lvl7pPr marL="4319905" indent="0">
              <a:buNone/>
              <a:defRPr sz="2520">
                <a:solidFill>
                  <a:schemeClr val="tx1">
                    <a:tint val="75000"/>
                  </a:schemeClr>
                </a:solidFill>
              </a:defRPr>
            </a:lvl7pPr>
            <a:lvl8pPr marL="5039995" indent="0">
              <a:buNone/>
              <a:defRPr sz="2520">
                <a:solidFill>
                  <a:schemeClr val="tx1">
                    <a:tint val="75000"/>
                  </a:schemeClr>
                </a:solidFill>
              </a:defRPr>
            </a:lvl8pPr>
            <a:lvl9pPr marL="5760085" indent="0">
              <a:buNone/>
              <a:defRPr sz="252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718583" y="4728408"/>
            <a:ext cx="6114331" cy="14956283"/>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7572756" y="4728408"/>
            <a:ext cx="6114331" cy="14956283"/>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718583" y="4501626"/>
            <a:ext cx="6309921" cy="1201945"/>
          </a:xfrm>
        </p:spPr>
        <p:txBody>
          <a:bodyPr lIns="101600" tIns="38100" rIns="76200" bIns="38100" anchor="t" anchorCtr="0">
            <a:normAutofit/>
          </a:bodyPr>
          <a:lstStyle>
            <a:lvl1pPr marL="0" indent="0">
              <a:lnSpc>
                <a:spcPct val="100000"/>
              </a:lnSpc>
              <a:buNone/>
              <a:defRPr sz="3150" b="1" spc="200">
                <a:solidFill>
                  <a:schemeClr val="tx1">
                    <a:lumMod val="75000"/>
                    <a:lumOff val="25000"/>
                  </a:schemeClr>
                </a:solidFill>
              </a:defRPr>
            </a:lvl1pPr>
            <a:lvl2pPr marL="720090" indent="0">
              <a:buNone/>
              <a:defRPr sz="3150" b="1"/>
            </a:lvl2pPr>
            <a:lvl3pPr marL="1440180" indent="0">
              <a:buNone/>
              <a:defRPr sz="2835" b="1"/>
            </a:lvl3pPr>
            <a:lvl4pPr marL="2160270" indent="0">
              <a:buNone/>
              <a:defRPr sz="2520" b="1"/>
            </a:lvl4pPr>
            <a:lvl5pPr marL="2879725" indent="0">
              <a:buNone/>
              <a:defRPr sz="2520" b="1"/>
            </a:lvl5pPr>
            <a:lvl6pPr marL="3599815" indent="0">
              <a:buNone/>
              <a:defRPr sz="2520" b="1"/>
            </a:lvl6pPr>
            <a:lvl7pPr marL="4319905" indent="0">
              <a:buNone/>
              <a:defRPr sz="2520" b="1"/>
            </a:lvl7pPr>
            <a:lvl8pPr marL="5039995" indent="0">
              <a:buNone/>
              <a:defRPr sz="2520" b="1"/>
            </a:lvl8pPr>
            <a:lvl9pPr marL="5760085" indent="0">
              <a:buNone/>
              <a:defRPr sz="252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718583" y="5839641"/>
            <a:ext cx="6309921" cy="13845051"/>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7365059" y="4478094"/>
            <a:ext cx="6309921" cy="1201945"/>
          </a:xfrm>
        </p:spPr>
        <p:txBody>
          <a:bodyPr vert="horz" lIns="101600" tIns="38100" rIns="76200" bIns="38100" rtlCol="0" anchor="t" anchorCtr="0">
            <a:normAutofit/>
          </a:bodyPr>
          <a:lstStyle>
            <a:lvl1pPr marL="0" indent="0">
              <a:lnSpc>
                <a:spcPct val="100000"/>
              </a:lnSpc>
              <a:buNone/>
              <a:defRPr sz="3150" b="1" spc="200">
                <a:solidFill>
                  <a:schemeClr val="tx1">
                    <a:lumMod val="75000"/>
                    <a:lumOff val="25000"/>
                  </a:schemeClr>
                </a:solidFill>
              </a:defRPr>
            </a:lvl1pPr>
            <a:lvl2pPr marL="720090" indent="0">
              <a:buNone/>
              <a:defRPr sz="3150" b="1"/>
            </a:lvl2pPr>
            <a:lvl3pPr marL="1440180" indent="0">
              <a:buNone/>
              <a:defRPr sz="2835" b="1"/>
            </a:lvl3pPr>
            <a:lvl4pPr marL="2160270" indent="0">
              <a:buNone/>
              <a:defRPr sz="2520" b="1"/>
            </a:lvl4pPr>
            <a:lvl5pPr marL="2879725" indent="0">
              <a:buNone/>
              <a:defRPr sz="2520" b="1"/>
            </a:lvl5pPr>
            <a:lvl6pPr marL="3599815" indent="0">
              <a:buNone/>
              <a:defRPr sz="2520" b="1"/>
            </a:lvl6pPr>
            <a:lvl7pPr marL="4319905" indent="0">
              <a:buNone/>
              <a:defRPr sz="2520" b="1"/>
            </a:lvl7pPr>
            <a:lvl8pPr marL="5039995" indent="0">
              <a:buNone/>
              <a:defRPr sz="2520" b="1"/>
            </a:lvl8pPr>
            <a:lvl9pPr marL="5760085" indent="0">
              <a:buNone/>
              <a:defRPr sz="252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7365059" y="5839641"/>
            <a:ext cx="6309921" cy="13845051"/>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718583" y="4898495"/>
            <a:ext cx="6180800" cy="14514058"/>
          </a:xfrm>
        </p:spPr>
        <p:txBody>
          <a:bodyPr vert="horz" lIns="90000" tIns="46800" rIns="90000" bIns="46800" rtlCol="0">
            <a:normAutofit/>
          </a:bodyPr>
          <a:lstStyle>
            <a:lvl1pPr>
              <a:buNone/>
              <a:defRPr sz="2520"/>
            </a:lvl1pPr>
          </a:lstStyle>
          <a:p>
            <a:pPr lvl="0"/>
            <a:endParaRPr lang="zh-CN" altLang="en-US"/>
          </a:p>
        </p:txBody>
      </p:sp>
      <p:sp>
        <p:nvSpPr>
          <p:cNvPr id="4" name="文本占位符 3"/>
          <p:cNvSpPr>
            <a:spLocks noGrp="1"/>
          </p:cNvSpPr>
          <p:nvPr>
            <p:ph type="body" sz="half" idx="2"/>
            <p:custDataLst>
              <p:tags r:id="rId2"/>
            </p:custDataLst>
          </p:nvPr>
        </p:nvSpPr>
        <p:spPr>
          <a:xfrm>
            <a:off x="7500473" y="4898495"/>
            <a:ext cx="6173858" cy="14514058"/>
          </a:xfrm>
        </p:spPr>
        <p:txBody>
          <a:bodyPr vert="horz" lIns="90000" tIns="46800" rIns="90000" bIns="46800" rtlCol="0">
            <a:normAutofit/>
          </a:bodyPr>
          <a:lstStyle>
            <a:lvl1pPr>
              <a:buNone/>
              <a:defRPr sz="252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2025/10/1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2088347" y="2880133"/>
            <a:ext cx="1233071" cy="15840734"/>
          </a:xfrm>
        </p:spPr>
        <p:txBody>
          <a:bodyPr vert="eaVert" lIns="90000" tIns="46800" rIns="90000" bIns="46800" rtlCol="0" anchor="ctr" anchorCtr="0">
            <a:normAutofit/>
          </a:bodyPr>
          <a:lstStyle>
            <a:lvl1pPr>
              <a:buNone/>
              <a:defRPr sz="441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1080000" y="2880133"/>
            <a:ext cx="10829764" cy="15840734"/>
          </a:xfrm>
        </p:spPr>
        <p:txBody>
          <a:bodyPr vert="eaVert" lIns="46800" tIns="46800" rIns="46800" bIns="46800"/>
          <a:lstStyle>
            <a:lvl1pPr marL="360045" indent="-360045">
              <a:spcAft>
                <a:spcPts val="1000"/>
              </a:spcAft>
              <a:defRPr spc="300"/>
            </a:lvl1pPr>
            <a:lvl2pPr marL="1080135" indent="-360045">
              <a:defRPr spc="300"/>
            </a:lvl2pPr>
            <a:lvl3pPr marL="1800225" indent="-360045">
              <a:defRPr spc="300"/>
            </a:lvl3pPr>
            <a:lvl4pPr marL="2520315" indent="-360045">
              <a:defRPr spc="300"/>
            </a:lvl4pPr>
            <a:lvl5pPr marL="3239770" indent="-360045">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718583" y="2437908"/>
            <a:ext cx="12960000" cy="1726946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415906" y="7823984"/>
            <a:ext cx="11573859" cy="3208968"/>
          </a:xfrm>
        </p:spPr>
        <p:txBody>
          <a:bodyPr vert="horz" lIns="90000" tIns="46800" rIns="90000" bIns="46800" rtlCol="0" anchor="t" anchorCtr="0">
            <a:normAutofit/>
          </a:bodyPr>
          <a:lstStyle>
            <a:lvl1pPr algn="ctr">
              <a:defRPr sz="945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415906" y="11214378"/>
            <a:ext cx="11573859" cy="1485423"/>
          </a:xfrm>
        </p:spPr>
        <p:txBody>
          <a:bodyPr lIns="90000" tIns="46800" rIns="90000" bIns="46800">
            <a:normAutofit/>
          </a:bodyPr>
          <a:lstStyle>
            <a:lvl1pPr algn="ctr">
              <a:lnSpc>
                <a:spcPct val="110000"/>
              </a:lnSpc>
              <a:buNone/>
              <a:defRPr sz="378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718583" y="1916309"/>
            <a:ext cx="12955748" cy="2222465"/>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718583" y="4694391"/>
            <a:ext cx="12955748" cy="14990301"/>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722835" y="19888795"/>
            <a:ext cx="3188976" cy="997842"/>
          </a:xfrm>
          <a:prstGeom prst="rect">
            <a:avLst/>
          </a:prstGeom>
        </p:spPr>
        <p:txBody>
          <a:bodyPr vert="horz" lIns="91440" tIns="45720" rIns="91440" bIns="45720" rtlCol="0" anchor="ctr">
            <a:normAutofit/>
          </a:bodyPr>
          <a:lstStyle>
            <a:lvl1pPr algn="l">
              <a:defRPr sz="1575" baseline="0">
                <a:solidFill>
                  <a:schemeClr val="tx1">
                    <a:tint val="75000"/>
                  </a:schemeClr>
                </a:solidFill>
              </a:defRPr>
            </a:lvl1pPr>
          </a:lstStyle>
          <a:p>
            <a:fld id="{760FBDFE-C587-4B4C-A407-44438C67B59E}" type="datetimeFigureOut">
              <a:rPr lang="zh-CN" altLang="en-US" smtClean="0"/>
              <a:t>2025/10/1</a:t>
            </a:fld>
            <a:endParaRPr lang="zh-CN" altLang="en-US"/>
          </a:p>
        </p:txBody>
      </p:sp>
      <p:sp>
        <p:nvSpPr>
          <p:cNvPr id="5" name="页脚占位符 4"/>
          <p:cNvSpPr>
            <a:spLocks noGrp="1"/>
          </p:cNvSpPr>
          <p:nvPr>
            <p:ph type="ftr" sz="quarter" idx="3"/>
            <p:custDataLst>
              <p:tags r:id="rId17"/>
            </p:custDataLst>
          </p:nvPr>
        </p:nvSpPr>
        <p:spPr>
          <a:xfrm>
            <a:off x="4861417" y="19888795"/>
            <a:ext cx="4677165" cy="997842"/>
          </a:xfrm>
          <a:prstGeom prst="rect">
            <a:avLst/>
          </a:prstGeom>
        </p:spPr>
        <p:txBody>
          <a:bodyPr vert="horz" lIns="91440" tIns="45720" rIns="91440" bIns="45720" rtlCol="0" anchor="ctr">
            <a:normAutofit/>
          </a:bodyPr>
          <a:lstStyle>
            <a:lvl1pPr algn="ctr">
              <a:defRPr sz="1575"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10485355" y="19888795"/>
            <a:ext cx="3188976" cy="997842"/>
          </a:xfrm>
          <a:prstGeom prst="rect">
            <a:avLst/>
          </a:prstGeom>
        </p:spPr>
        <p:txBody>
          <a:bodyPr vert="horz" lIns="91440" tIns="45720" rIns="91440" bIns="45720" rtlCol="0" anchor="ctr">
            <a:normAutofit/>
          </a:bodyPr>
          <a:lstStyle>
            <a:lvl1pPr algn="r">
              <a:defRPr sz="1575"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440180" rtl="0" eaLnBrk="1" fontAlgn="auto" latinLnBrk="0" hangingPunct="1">
        <a:lnSpc>
          <a:spcPct val="100000"/>
        </a:lnSpc>
        <a:spcBef>
          <a:spcPct val="0"/>
        </a:spcBef>
        <a:buNone/>
        <a:defRPr sz="5670" b="0" u="none" strike="noStrike" kern="1200" cap="none" spc="300" normalizeH="0" baseline="0">
          <a:solidFill>
            <a:schemeClr val="tx1">
              <a:lumMod val="85000"/>
              <a:lumOff val="15000"/>
            </a:schemeClr>
          </a:solidFill>
          <a:uFillTx/>
          <a:latin typeface="+mj-lt"/>
          <a:ea typeface="+mj-ea"/>
          <a:cs typeface="+mj-cs"/>
        </a:defRPr>
      </a:lvl1pPr>
    </p:titleStyle>
    <p:bodyStyle>
      <a:lvl1pPr marL="360045" indent="-360045" algn="l" defTabSz="1440180" rtl="0" eaLnBrk="1" fontAlgn="auto" latinLnBrk="0" hangingPunct="1">
        <a:lnSpc>
          <a:spcPct val="130000"/>
        </a:lnSpc>
        <a:spcBef>
          <a:spcPct val="1000"/>
        </a:spcBef>
        <a:spcAft>
          <a:spcPts val="1000"/>
        </a:spcAft>
        <a:buFont typeface="Arial" panose="020B0604020202020204" pitchFamily="34" charset="0"/>
        <a:buChar char="●"/>
        <a:defRPr sz="2835" u="none" strike="noStrike" kern="1200" cap="none" spc="150" normalizeH="0" baseline="0">
          <a:solidFill>
            <a:schemeClr val="tx1">
              <a:lumMod val="65000"/>
              <a:lumOff val="35000"/>
            </a:schemeClr>
          </a:solidFill>
          <a:uFillTx/>
          <a:latin typeface="+mn-lt"/>
          <a:ea typeface="+mn-ea"/>
          <a:cs typeface="+mn-cs"/>
        </a:defRPr>
      </a:lvl1pPr>
      <a:lvl2pPr marL="1080135" indent="-360045" algn="l" defTabSz="1440180" rtl="0" eaLnBrk="1" fontAlgn="auto" latinLnBrk="0" hangingPunct="1">
        <a:lnSpc>
          <a:spcPct val="120000"/>
        </a:lnSpc>
        <a:spcBef>
          <a:spcPct val="1000"/>
        </a:spcBef>
        <a:spcAft>
          <a:spcPts val="600"/>
        </a:spcAft>
        <a:buFont typeface="Arial" panose="020B0604020202020204" pitchFamily="34" charset="0"/>
        <a:buChar char="●"/>
        <a:tabLst>
          <a:tab pos="2534920" algn="l"/>
          <a:tab pos="2534920" algn="l"/>
          <a:tab pos="2534920" algn="l"/>
          <a:tab pos="2534920" algn="l"/>
        </a:tabLst>
        <a:defRPr sz="2520" u="none" strike="noStrike" kern="1200" cap="none" spc="150" normalizeH="0" baseline="0">
          <a:solidFill>
            <a:schemeClr val="tx1">
              <a:lumMod val="65000"/>
              <a:lumOff val="35000"/>
            </a:schemeClr>
          </a:solidFill>
          <a:uFillTx/>
          <a:latin typeface="+mn-lt"/>
          <a:ea typeface="+mn-ea"/>
          <a:cs typeface="+mn-cs"/>
        </a:defRPr>
      </a:lvl2pPr>
      <a:lvl3pPr marL="1800225" indent="-360045" algn="l" defTabSz="1440180" rtl="0" eaLnBrk="1" fontAlgn="auto" latinLnBrk="0" hangingPunct="1">
        <a:lnSpc>
          <a:spcPct val="120000"/>
        </a:lnSpc>
        <a:spcBef>
          <a:spcPct val="1000"/>
        </a:spcBef>
        <a:spcAft>
          <a:spcPts val="600"/>
        </a:spcAft>
        <a:buFont typeface="Arial" panose="020B0604020202020204" pitchFamily="34" charset="0"/>
        <a:buChar char="●"/>
        <a:defRPr sz="2520" u="none" strike="noStrike" kern="1200" cap="none" spc="150" normalizeH="0" baseline="0">
          <a:solidFill>
            <a:schemeClr val="tx1">
              <a:lumMod val="65000"/>
              <a:lumOff val="35000"/>
            </a:schemeClr>
          </a:solidFill>
          <a:uFillTx/>
          <a:latin typeface="+mn-lt"/>
          <a:ea typeface="+mn-ea"/>
          <a:cs typeface="+mn-cs"/>
        </a:defRPr>
      </a:lvl3pPr>
      <a:lvl4pPr marL="2520315" indent="-360045" algn="l" defTabSz="1440180" rtl="0" eaLnBrk="1" fontAlgn="auto" latinLnBrk="0" hangingPunct="1">
        <a:lnSpc>
          <a:spcPct val="120000"/>
        </a:lnSpc>
        <a:spcBef>
          <a:spcPct val="1000"/>
        </a:spcBef>
        <a:spcAft>
          <a:spcPts val="300"/>
        </a:spcAft>
        <a:buFont typeface="Wingdings" panose="05000000000000000000" charset="0"/>
        <a:buChar char=""/>
        <a:defRPr sz="2205" u="none" strike="noStrike" kern="1200" cap="none" spc="150" normalizeH="0" baseline="0">
          <a:solidFill>
            <a:schemeClr val="tx1">
              <a:lumMod val="65000"/>
              <a:lumOff val="35000"/>
            </a:schemeClr>
          </a:solidFill>
          <a:uFillTx/>
          <a:latin typeface="+mn-lt"/>
          <a:ea typeface="+mn-ea"/>
          <a:cs typeface="+mn-cs"/>
        </a:defRPr>
      </a:lvl4pPr>
      <a:lvl5pPr marL="3239770" indent="-360045" algn="l" defTabSz="1440180" rtl="0" eaLnBrk="1" fontAlgn="auto" latinLnBrk="0" hangingPunct="1">
        <a:lnSpc>
          <a:spcPct val="120000"/>
        </a:lnSpc>
        <a:spcBef>
          <a:spcPct val="1000"/>
        </a:spcBef>
        <a:spcAft>
          <a:spcPts val="300"/>
        </a:spcAft>
        <a:buFont typeface="Arial" panose="020B0604020202020204" pitchFamily="34" charset="0"/>
        <a:buChar char="•"/>
        <a:defRPr sz="2205" u="none" strike="noStrike" kern="1200" cap="none" spc="150" normalizeH="0" baseline="0">
          <a:solidFill>
            <a:schemeClr val="tx1">
              <a:lumMod val="65000"/>
              <a:lumOff val="35000"/>
            </a:schemeClr>
          </a:solidFill>
          <a:uFillTx/>
          <a:latin typeface="+mn-lt"/>
          <a:ea typeface="+mn-ea"/>
          <a:cs typeface="+mn-cs"/>
        </a:defRPr>
      </a:lvl5pPr>
      <a:lvl6pPr marL="395986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6pPr>
      <a:lvl7pPr marL="467995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7pPr>
      <a:lvl8pPr marL="540004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8pPr>
      <a:lvl9pPr marL="612013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9pPr>
    </p:bodyStyle>
    <p:otherStyle>
      <a:defPPr>
        <a:defRPr lang="zh-CN"/>
      </a:defPPr>
      <a:lvl1pPr marL="0" algn="l" defTabSz="1440180" rtl="0" eaLnBrk="1" latinLnBrk="0" hangingPunct="1">
        <a:defRPr sz="2835" kern="1200">
          <a:solidFill>
            <a:schemeClr val="tx1"/>
          </a:solidFill>
          <a:latin typeface="+mn-lt"/>
          <a:ea typeface="+mn-ea"/>
          <a:cs typeface="+mn-cs"/>
        </a:defRPr>
      </a:lvl1pPr>
      <a:lvl2pPr marL="720090" algn="l" defTabSz="1440180" rtl="0" eaLnBrk="1" latinLnBrk="0" hangingPunct="1">
        <a:defRPr sz="2835" kern="1200">
          <a:solidFill>
            <a:schemeClr val="tx1"/>
          </a:solidFill>
          <a:latin typeface="+mn-lt"/>
          <a:ea typeface="+mn-ea"/>
          <a:cs typeface="+mn-cs"/>
        </a:defRPr>
      </a:lvl2pPr>
      <a:lvl3pPr marL="1440180" algn="l" defTabSz="1440180" rtl="0" eaLnBrk="1" latinLnBrk="0" hangingPunct="1">
        <a:defRPr sz="2835" kern="1200">
          <a:solidFill>
            <a:schemeClr val="tx1"/>
          </a:solidFill>
          <a:latin typeface="+mn-lt"/>
          <a:ea typeface="+mn-ea"/>
          <a:cs typeface="+mn-cs"/>
        </a:defRPr>
      </a:lvl3pPr>
      <a:lvl4pPr marL="2160270" algn="l" defTabSz="1440180" rtl="0" eaLnBrk="1" latinLnBrk="0" hangingPunct="1">
        <a:defRPr sz="2835" kern="1200">
          <a:solidFill>
            <a:schemeClr val="tx1"/>
          </a:solidFill>
          <a:latin typeface="+mn-lt"/>
          <a:ea typeface="+mn-ea"/>
          <a:cs typeface="+mn-cs"/>
        </a:defRPr>
      </a:lvl4pPr>
      <a:lvl5pPr marL="2879725" algn="l" defTabSz="1440180" rtl="0" eaLnBrk="1" latinLnBrk="0" hangingPunct="1">
        <a:defRPr sz="2835" kern="1200">
          <a:solidFill>
            <a:schemeClr val="tx1"/>
          </a:solidFill>
          <a:latin typeface="+mn-lt"/>
          <a:ea typeface="+mn-ea"/>
          <a:cs typeface="+mn-cs"/>
        </a:defRPr>
      </a:lvl5pPr>
      <a:lvl6pPr marL="3599815" algn="l" defTabSz="1440180" rtl="0" eaLnBrk="1" latinLnBrk="0" hangingPunct="1">
        <a:defRPr sz="2835" kern="1200">
          <a:solidFill>
            <a:schemeClr val="tx1"/>
          </a:solidFill>
          <a:latin typeface="+mn-lt"/>
          <a:ea typeface="+mn-ea"/>
          <a:cs typeface="+mn-cs"/>
        </a:defRPr>
      </a:lvl6pPr>
      <a:lvl7pPr marL="4319905" algn="l" defTabSz="1440180" rtl="0" eaLnBrk="1" latinLnBrk="0" hangingPunct="1">
        <a:defRPr sz="2835" kern="1200">
          <a:solidFill>
            <a:schemeClr val="tx1"/>
          </a:solidFill>
          <a:latin typeface="+mn-lt"/>
          <a:ea typeface="+mn-ea"/>
          <a:cs typeface="+mn-cs"/>
        </a:defRPr>
      </a:lvl7pPr>
      <a:lvl8pPr marL="5039995" algn="l" defTabSz="1440180" rtl="0" eaLnBrk="1" latinLnBrk="0" hangingPunct="1">
        <a:defRPr sz="2835" kern="1200">
          <a:solidFill>
            <a:schemeClr val="tx1"/>
          </a:solidFill>
          <a:latin typeface="+mn-lt"/>
          <a:ea typeface="+mn-ea"/>
          <a:cs typeface="+mn-cs"/>
        </a:defRPr>
      </a:lvl8pPr>
      <a:lvl9pPr marL="5760085" algn="l" defTabSz="1440180" rtl="0" eaLnBrk="1" latinLnBrk="0" hangingPunct="1">
        <a:defRPr sz="28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emf"/><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slideLayout" Target="../slideLayouts/slideLayout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tags" Target="../tags/tag64.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emf"/><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emf"/><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27FF5-1638-0113-1A7B-2D2AD9D1C472}"/>
            </a:ext>
          </a:extLst>
        </p:cNvPr>
        <p:cNvGrpSpPr/>
        <p:nvPr/>
      </p:nvGrpSpPr>
      <p:grpSpPr>
        <a:xfrm>
          <a:off x="0" y="0"/>
          <a:ext cx="0" cy="0"/>
          <a:chOff x="0" y="0"/>
          <a:chExt cx="0" cy="0"/>
        </a:xfrm>
      </p:grpSpPr>
      <p:pic>
        <p:nvPicPr>
          <p:cNvPr id="83" name="Picture 82">
            <a:extLst>
              <a:ext uri="{FF2B5EF4-FFF2-40B4-BE49-F238E27FC236}">
                <a16:creationId xmlns:a16="http://schemas.microsoft.com/office/drawing/2014/main" id="{7A47F58C-8BEC-4CD6-DE28-178AF8AA2565}"/>
              </a:ext>
            </a:extLst>
          </p:cNvPr>
          <p:cNvPicPr>
            <a:picLocks noChangeAspect="1"/>
          </p:cNvPicPr>
          <p:nvPr/>
        </p:nvPicPr>
        <p:blipFill>
          <a:blip r:embed="rId3"/>
          <a:stretch>
            <a:fillRect/>
          </a:stretch>
        </p:blipFill>
        <p:spPr>
          <a:xfrm>
            <a:off x="1773653" y="13607752"/>
            <a:ext cx="3937026" cy="381823"/>
          </a:xfrm>
          <a:prstGeom prst="rect">
            <a:avLst/>
          </a:prstGeom>
        </p:spPr>
      </p:pic>
      <p:pic>
        <p:nvPicPr>
          <p:cNvPr id="73" name="Picture 72">
            <a:extLst>
              <a:ext uri="{FF2B5EF4-FFF2-40B4-BE49-F238E27FC236}">
                <a16:creationId xmlns:a16="http://schemas.microsoft.com/office/drawing/2014/main" id="{B452CF8A-847C-B8BB-87C5-38CFF02C47FA}"/>
              </a:ext>
            </a:extLst>
          </p:cNvPr>
          <p:cNvPicPr>
            <a:picLocks noChangeAspect="1"/>
          </p:cNvPicPr>
          <p:nvPr/>
        </p:nvPicPr>
        <p:blipFill>
          <a:blip r:embed="rId4"/>
          <a:stretch>
            <a:fillRect/>
          </a:stretch>
        </p:blipFill>
        <p:spPr>
          <a:xfrm>
            <a:off x="3951131" y="5388474"/>
            <a:ext cx="3727824" cy="2443680"/>
          </a:xfrm>
          <a:prstGeom prst="rect">
            <a:avLst/>
          </a:prstGeom>
        </p:spPr>
      </p:pic>
      <p:sp>
        <p:nvSpPr>
          <p:cNvPr id="24" name="Rectangle 23">
            <a:extLst>
              <a:ext uri="{FF2B5EF4-FFF2-40B4-BE49-F238E27FC236}">
                <a16:creationId xmlns:a16="http://schemas.microsoft.com/office/drawing/2014/main" id="{45868893-2535-F31D-5929-CB42270FAA03}"/>
              </a:ext>
            </a:extLst>
          </p:cNvPr>
          <p:cNvSpPr/>
          <p:nvPr/>
        </p:nvSpPr>
        <p:spPr>
          <a:xfrm>
            <a:off x="-635" y="-7205"/>
            <a:ext cx="14400848" cy="2350744"/>
          </a:xfrm>
          <a:prstGeom prst="rect">
            <a:avLst/>
          </a:prstGeom>
          <a:gradFill flip="none" rotWithShape="1">
            <a:gsLst>
              <a:gs pos="0">
                <a:schemeClr val="accent1">
                  <a:lumMod val="5000"/>
                  <a:lumOff val="95000"/>
                  <a:alpha val="0"/>
                </a:schemeClr>
              </a:gs>
              <a:gs pos="100000">
                <a:schemeClr val="accent2">
                  <a:alpha val="56000"/>
                  <a:lumMod val="29000"/>
                  <a:lumOff val="71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矩形 124">
            <a:extLst>
              <a:ext uri="{FF2B5EF4-FFF2-40B4-BE49-F238E27FC236}">
                <a16:creationId xmlns:a16="http://schemas.microsoft.com/office/drawing/2014/main" id="{F57BBB9B-4E32-867C-7BF7-3A57A867E03E}"/>
              </a:ext>
            </a:extLst>
          </p:cNvPr>
          <p:cNvSpPr/>
          <p:nvPr/>
        </p:nvSpPr>
        <p:spPr>
          <a:xfrm>
            <a:off x="7185659" y="9577687"/>
            <a:ext cx="7077394" cy="5504929"/>
          </a:xfrm>
          <a:prstGeom prst="rect">
            <a:avLst/>
          </a:prstGeom>
          <a:ln w="19050">
            <a:solidFill>
              <a:schemeClr val="tx1"/>
            </a:solidFill>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94ED12C-2F7D-BECD-4D33-B132EF5E146B}"/>
              </a:ext>
            </a:extLst>
          </p:cNvPr>
          <p:cNvSpPr txBox="1"/>
          <p:nvPr/>
        </p:nvSpPr>
        <p:spPr>
          <a:xfrm>
            <a:off x="-14765" y="323351"/>
            <a:ext cx="14400848" cy="458916"/>
          </a:xfrm>
          <a:prstGeom prst="rect">
            <a:avLst/>
          </a:prstGeom>
          <a:noFill/>
        </p:spPr>
        <p:txBody>
          <a:bodyPr wrap="square" rtlCol="0" anchor="t">
            <a:noAutofit/>
          </a:bodyPr>
          <a:lstStyle/>
          <a:p>
            <a:pPr algn="ctr"/>
            <a:r>
              <a:rPr lang="en-US" altLang="zh-CN" sz="2700" b="1" dirty="0" err="1">
                <a:latin typeface="Times New Roman" panose="02020603050405020304" charset="0"/>
                <a:cs typeface="Times New Roman" panose="02020603050405020304" charset="0"/>
              </a:rPr>
              <a:t>MEPT: Mixture of Expert Prompt Tuning as a Manifold Mapper</a:t>
            </a:r>
            <a:endParaRPr lang="zh-CN" altLang="en-US" sz="2700" b="1" dirty="0">
              <a:latin typeface="Times New Roman" panose="02020603050405020304" charset="0"/>
              <a:cs typeface="Times New Roman" panose="02020603050405020304" charset="0"/>
            </a:endParaRPr>
          </a:p>
        </p:txBody>
      </p:sp>
      <p:sp>
        <p:nvSpPr>
          <p:cNvPr id="21" name="文本框 20">
            <a:extLst>
              <a:ext uri="{FF2B5EF4-FFF2-40B4-BE49-F238E27FC236}">
                <a16:creationId xmlns:a16="http://schemas.microsoft.com/office/drawing/2014/main" id="{1306F1F8-EB3E-85E9-FD8A-0CA4EE461D88}"/>
              </a:ext>
            </a:extLst>
          </p:cNvPr>
          <p:cNvSpPr txBox="1"/>
          <p:nvPr/>
        </p:nvSpPr>
        <p:spPr>
          <a:xfrm>
            <a:off x="286674" y="3060698"/>
            <a:ext cx="13896606" cy="2185214"/>
          </a:xfrm>
          <a:prstGeom prst="rect">
            <a:avLst/>
          </a:prstGeom>
          <a:noFill/>
        </p:spPr>
        <p:txBody>
          <a:bodyPr wrap="square" rtlCol="0" anchor="t">
            <a:spAutoFit/>
          </a:bodyPr>
          <a:lstStyle/>
          <a:p>
            <a:pPr algn="just"/>
            <a:r>
              <a:rPr lang="en-US" altLang="zh-CN" sz="2400" b="1" dirty="0">
                <a:solidFill>
                  <a:srgbClr val="F76902"/>
                </a:solidFill>
              </a:rPr>
              <a:t>Introduction</a:t>
            </a:r>
            <a:endParaRPr lang="zh-CN" altLang="en-US" sz="2400" b="1" dirty="0">
              <a:solidFill>
                <a:srgbClr val="F76902"/>
              </a:solidFill>
            </a:endParaRPr>
          </a:p>
          <a:p>
            <a:pPr algn="just"/>
            <a:r>
              <a:rPr lang="en-US" sz="1400" dirty="0">
                <a:latin typeface="微软雅黑" panose="020B0503020204020204" pitchFamily="34" charset="-122"/>
                <a:ea typeface="微软雅黑" panose="020B0503020204020204" pitchFamily="34" charset="-122"/>
              </a:rPr>
              <a:t>Considering deep neural networks as manifold mappers, the pretrain-then-fine-tune paradigm can be interpreted as a two-stage process: pretrain establishes a broad knowledge base, and fine-tune adjusts the model parameters to activate specific neural pathways to align with the target manifold. Although prior fine-tuning approaches demonstrate success, their rigid parameter space limits their ability to dynamically activate appropriate neural pathways, rendering them ill-equipped to adapt flexibly to the diverse and evolving data distributions. In light of this view, we propose a novel approach, Mixture of Expert Prompt Tuning (MEPT), as an effective and efficient manifold-mapping framework. MEPT leverages the Mixture of Experts architecture by integrating multiple prompt experts to adaptively learn diverse and non-stationary data distributions. Empirical evaluations demonstrate that MEPT outperforms several state-of-the-art parameter efficient baselines on SuperGLUE, achieving notable improvements in mean accuracy (e.g., 1.94%) while significantly reducing activated prompts by 79.25%. The effectiveness of MEPT is further supported by theoretical insights from manifold learning and validated through neural activation pathway visualization results. </a:t>
            </a:r>
          </a:p>
        </p:txBody>
      </p:sp>
      <p:sp>
        <p:nvSpPr>
          <p:cNvPr id="5" name="文本框 4">
            <a:extLst>
              <a:ext uri="{FF2B5EF4-FFF2-40B4-BE49-F238E27FC236}">
                <a16:creationId xmlns:a16="http://schemas.microsoft.com/office/drawing/2014/main" id="{693FAD19-7E3F-E611-4C12-F69AEDBBB6C6}"/>
              </a:ext>
            </a:extLst>
          </p:cNvPr>
          <p:cNvSpPr txBox="1"/>
          <p:nvPr/>
        </p:nvSpPr>
        <p:spPr>
          <a:xfrm>
            <a:off x="310937" y="848614"/>
            <a:ext cx="13848080" cy="1155700"/>
          </a:xfrm>
          <a:prstGeom prst="rect">
            <a:avLst/>
          </a:prstGeom>
          <a:noFill/>
        </p:spPr>
        <p:txBody>
          <a:bodyPr wrap="square" rtlCol="0" anchor="t">
            <a:noAutofit/>
          </a:bodyPr>
          <a:lstStyle/>
          <a:p>
            <a:pPr algn="ctr"/>
            <a:r>
              <a:rPr lang="en-US" altLang="zh-CN" b="1" dirty="0" err="1">
                <a:solidFill>
                  <a:schemeClr val="tx1">
                    <a:lumMod val="65000"/>
                    <a:lumOff val="35000"/>
                  </a:schemeClr>
                </a:solidFill>
                <a:latin typeface="+mj-ea"/>
                <a:ea typeface="+mj-ea"/>
                <a:cs typeface="Arial" panose="020B0604020202020204" pitchFamily="34" charset="0"/>
              </a:rPr>
              <a:t>Runjia Zeng</a:t>
            </a:r>
            <a:r>
              <a:rPr lang="en-US" altLang="zh-CN" b="1" baseline="30000" dirty="0" err="1">
                <a:solidFill>
                  <a:schemeClr val="tx1">
                    <a:lumMod val="65000"/>
                    <a:lumOff val="35000"/>
                  </a:schemeClr>
                </a:solidFill>
                <a:latin typeface="+mj-ea"/>
                <a:ea typeface="+mj-ea"/>
                <a:cs typeface="Arial" panose="020B0604020202020204" pitchFamily="34" charset="0"/>
              </a:rPr>
              <a:t>1</a:t>
            </a:r>
            <a:r>
              <a:rPr lang="en-US" altLang="zh-CN" b="1" dirty="0" err="1">
                <a:solidFill>
                  <a:schemeClr val="tx1">
                    <a:lumMod val="65000"/>
                    <a:lumOff val="35000"/>
                  </a:schemeClr>
                </a:solidFill>
                <a:latin typeface="+mj-ea"/>
                <a:ea typeface="+mj-ea"/>
                <a:cs typeface="Arial" panose="020B0604020202020204" pitchFamily="34" charset="0"/>
              </a:rPr>
              <a:t> Guangyan Sun</a:t>
            </a:r>
            <a:r>
              <a:rPr lang="en-US" altLang="zh-CN" b="1" baseline="30000" dirty="0" err="1">
                <a:solidFill>
                  <a:schemeClr val="tx1">
                    <a:lumMod val="65000"/>
                    <a:lumOff val="35000"/>
                  </a:schemeClr>
                </a:solidFill>
                <a:latin typeface="+mj-ea"/>
                <a:ea typeface="+mj-ea"/>
                <a:cs typeface="Arial" panose="020B0604020202020204" pitchFamily="34" charset="0"/>
              </a:rPr>
              <a:t>2</a:t>
            </a:r>
            <a:r>
              <a:rPr lang="en-US" altLang="zh-CN" b="1" dirty="0" err="1">
                <a:solidFill>
                  <a:schemeClr val="tx1">
                    <a:lumMod val="65000"/>
                    <a:lumOff val="35000"/>
                  </a:schemeClr>
                </a:solidFill>
                <a:latin typeface="+mj-ea"/>
                <a:ea typeface="+mj-ea"/>
                <a:cs typeface="Arial" panose="020B0604020202020204" pitchFamily="34" charset="0"/>
              </a:rPr>
              <a:t> QifanWang</a:t>
            </a:r>
            <a:r>
              <a:rPr lang="en-US" altLang="zh-CN" b="1" baseline="30000" dirty="0" err="1">
                <a:solidFill>
                  <a:schemeClr val="tx1">
                    <a:lumMod val="65000"/>
                    <a:lumOff val="35000"/>
                  </a:schemeClr>
                </a:solidFill>
                <a:latin typeface="+mj-ea"/>
                <a:ea typeface="+mj-ea"/>
                <a:cs typeface="Arial" panose="020B0604020202020204" pitchFamily="34" charset="0"/>
              </a:rPr>
              <a:t>3</a:t>
            </a:r>
            <a:r>
              <a:rPr lang="en-US" altLang="zh-CN" b="1" dirty="0" err="1">
                <a:solidFill>
                  <a:schemeClr val="tx1">
                    <a:lumMod val="65000"/>
                    <a:lumOff val="35000"/>
                  </a:schemeClr>
                </a:solidFill>
                <a:latin typeface="+mj-ea"/>
                <a:ea typeface="+mj-ea"/>
                <a:cs typeface="Arial" panose="020B0604020202020204" pitchFamily="34" charset="0"/>
              </a:rPr>
              <a:t> Tong Geng</a:t>
            </a:r>
            <a:r>
              <a:rPr lang="en-US" altLang="zh-CN" b="1" baseline="30000" dirty="0" err="1">
                <a:solidFill>
                  <a:schemeClr val="tx1">
                    <a:lumMod val="65000"/>
                    <a:lumOff val="35000"/>
                  </a:schemeClr>
                </a:solidFill>
                <a:latin typeface="+mj-ea"/>
                <a:ea typeface="+mj-ea"/>
                <a:cs typeface="Arial" panose="020B0604020202020204" pitchFamily="34" charset="0"/>
              </a:rPr>
              <a:t>2,4</a:t>
            </a:r>
            <a:r>
              <a:rPr lang="en-US" altLang="zh-CN" b="1" dirty="0" err="1">
                <a:solidFill>
                  <a:schemeClr val="tx1">
                    <a:lumMod val="65000"/>
                    <a:lumOff val="35000"/>
                  </a:schemeClr>
                </a:solidFill>
                <a:latin typeface="+mj-ea"/>
                <a:ea typeface="+mj-ea"/>
                <a:cs typeface="Arial" panose="020B0604020202020204" pitchFamily="34" charset="0"/>
              </a:rPr>
              <a:t> Sohail Dianat</a:t>
            </a:r>
            <a:r>
              <a:rPr lang="en-US" altLang="zh-CN" b="1" baseline="30000" dirty="0" err="1">
                <a:solidFill>
                  <a:schemeClr val="tx1">
                    <a:lumMod val="65000"/>
                    <a:lumOff val="35000"/>
                  </a:schemeClr>
                </a:solidFill>
                <a:latin typeface="+mj-ea"/>
                <a:ea typeface="+mj-ea"/>
                <a:cs typeface="Arial" panose="020B0604020202020204" pitchFamily="34" charset="0"/>
              </a:rPr>
              <a:t>1</a:t>
            </a:r>
          </a:p>
          <a:p>
            <a:pPr algn="ctr"/>
            <a:r>
              <a:rPr lang="en-US" altLang="zh-CN" b="1" dirty="0" err="1">
                <a:solidFill>
                  <a:schemeClr val="tx1">
                    <a:lumMod val="65000"/>
                    <a:lumOff val="35000"/>
                  </a:schemeClr>
                </a:solidFill>
                <a:latin typeface="+mj-ea"/>
                <a:ea typeface="+mj-ea"/>
                <a:cs typeface="Arial" panose="020B0604020202020204" pitchFamily="34" charset="0"/>
              </a:rPr>
              <a:t>Xiaotian Han</a:t>
            </a:r>
            <a:r>
              <a:rPr lang="en-US" altLang="zh-CN" b="1" baseline="30000" dirty="0" err="1">
                <a:solidFill>
                  <a:schemeClr val="tx1">
                    <a:lumMod val="65000"/>
                    <a:lumOff val="35000"/>
                  </a:schemeClr>
                </a:solidFill>
                <a:latin typeface="+mj-ea"/>
                <a:ea typeface="+mj-ea"/>
                <a:cs typeface="Arial" panose="020B0604020202020204" pitchFamily="34" charset="0"/>
              </a:rPr>
              <a:t>5</a:t>
            </a:r>
            <a:r>
              <a:rPr lang="en-US" altLang="zh-CN" b="1" dirty="0" err="1">
                <a:solidFill>
                  <a:schemeClr val="tx1">
                    <a:lumMod val="65000"/>
                    <a:lumOff val="35000"/>
                  </a:schemeClr>
                </a:solidFill>
                <a:latin typeface="+mj-ea"/>
                <a:ea typeface="+mj-ea"/>
                <a:cs typeface="Arial" panose="020B0604020202020204" pitchFamily="34" charset="0"/>
              </a:rPr>
              <a:t> Raghuveer Rao</a:t>
            </a:r>
            <a:r>
              <a:rPr lang="en-US" altLang="zh-CN" b="1" baseline="30000" dirty="0" err="1">
                <a:solidFill>
                  <a:schemeClr val="tx1">
                    <a:lumMod val="65000"/>
                    <a:lumOff val="35000"/>
                  </a:schemeClr>
                </a:solidFill>
                <a:latin typeface="+mj-ea"/>
                <a:ea typeface="+mj-ea"/>
                <a:cs typeface="Arial" panose="020B0604020202020204" pitchFamily="34" charset="0"/>
              </a:rPr>
              <a:t>6</a:t>
            </a:r>
            <a:r>
              <a:rPr lang="en-US" altLang="zh-CN" b="1" dirty="0" err="1">
                <a:solidFill>
                  <a:schemeClr val="tx1">
                    <a:lumMod val="65000"/>
                    <a:lumOff val="35000"/>
                  </a:schemeClr>
                </a:solidFill>
                <a:latin typeface="+mj-ea"/>
                <a:ea typeface="+mj-ea"/>
                <a:cs typeface="Arial" panose="020B0604020202020204" pitchFamily="34" charset="0"/>
              </a:rPr>
              <a:t> Xueling Zhang</a:t>
            </a:r>
            <a:r>
              <a:rPr lang="en-US" altLang="zh-CN" b="1" baseline="30000" dirty="0" err="1">
                <a:solidFill>
                  <a:schemeClr val="tx1">
                    <a:lumMod val="65000"/>
                    <a:lumOff val="35000"/>
                  </a:schemeClr>
                </a:solidFill>
                <a:latin typeface="+mj-ea"/>
                <a:ea typeface="+mj-ea"/>
                <a:cs typeface="Arial" panose="020B0604020202020204" pitchFamily="34" charset="0"/>
              </a:rPr>
              <a:t>1</a:t>
            </a:r>
            <a:r>
              <a:rPr lang="en-US" altLang="zh-CN" b="1" dirty="0" err="1">
                <a:solidFill>
                  <a:schemeClr val="tx1">
                    <a:lumMod val="65000"/>
                    <a:lumOff val="35000"/>
                  </a:schemeClr>
                </a:solidFill>
                <a:latin typeface="+mj-ea"/>
                <a:ea typeface="+mj-ea"/>
                <a:cs typeface="Arial" panose="020B0604020202020204" pitchFamily="34" charset="0"/>
              </a:rPr>
              <a:t> Cheng Han</a:t>
            </a:r>
            <a:r>
              <a:rPr lang="en-US" altLang="zh-CN" b="1" baseline="30000" dirty="0" err="1">
                <a:solidFill>
                  <a:schemeClr val="tx1">
                    <a:lumMod val="65000"/>
                    <a:lumOff val="35000"/>
                  </a:schemeClr>
                </a:solidFill>
                <a:latin typeface="+mj-ea"/>
                <a:ea typeface="+mj-ea"/>
                <a:cs typeface="Arial" panose="020B0604020202020204" pitchFamily="34" charset="0"/>
              </a:rPr>
              <a:t>7</a:t>
            </a:r>
            <a:r>
              <a:rPr lang="en-US" altLang="zh-CN" b="1" dirty="0" err="1">
                <a:solidFill>
                  <a:schemeClr val="tx1">
                    <a:lumMod val="65000"/>
                    <a:lumOff val="35000"/>
                  </a:schemeClr>
                </a:solidFill>
                <a:latin typeface="+mj-ea"/>
                <a:ea typeface="+mj-ea"/>
                <a:cs typeface="Arial" panose="020B0604020202020204" pitchFamily="34" charset="0"/>
              </a:rPr>
              <a:t> Lifu Huang</a:t>
            </a:r>
            <a:r>
              <a:rPr lang="en-US" altLang="zh-CN" b="1" baseline="30000" dirty="0" err="1">
                <a:solidFill>
                  <a:schemeClr val="tx1">
                    <a:lumMod val="65000"/>
                    <a:lumOff val="35000"/>
                  </a:schemeClr>
                </a:solidFill>
                <a:latin typeface="+mj-ea"/>
                <a:ea typeface="+mj-ea"/>
                <a:cs typeface="Arial" panose="020B0604020202020204" pitchFamily="34" charset="0"/>
              </a:rPr>
              <a:t>8</a:t>
            </a:r>
            <a:r>
              <a:rPr lang="en-US" altLang="zh-CN" b="1" dirty="0" err="1">
                <a:solidFill>
                  <a:schemeClr val="tx1">
                    <a:lumMod val="65000"/>
                    <a:lumOff val="35000"/>
                  </a:schemeClr>
                </a:solidFill>
                <a:latin typeface="+mj-ea"/>
                <a:ea typeface="+mj-ea"/>
                <a:cs typeface="Arial" panose="020B0604020202020204" pitchFamily="34" charset="0"/>
              </a:rPr>
              <a:t> Dongfang Liu</a:t>
            </a:r>
            <a:r>
              <a:rPr lang="en-US" altLang="zh-CN" b="1" baseline="30000" dirty="0" err="1">
                <a:solidFill>
                  <a:schemeClr val="tx1">
                    <a:lumMod val="65000"/>
                    <a:lumOff val="35000"/>
                  </a:schemeClr>
                </a:solidFill>
                <a:latin typeface="+mj-ea"/>
                <a:ea typeface="+mj-ea"/>
                <a:cs typeface="Arial" panose="020B0604020202020204" pitchFamily="34" charset="0"/>
              </a:rPr>
              <a:t>1†</a:t>
            </a:r>
          </a:p>
          <a:p>
            <a:pPr algn="ctr"/>
            <a:endParaRPr lang="en-US" altLang="zh-CN" b="1" dirty="0" err="1">
              <a:latin typeface="+mj-ea"/>
              <a:ea typeface="+mj-ea"/>
              <a:cs typeface="Arial" panose="020B0604020202020204" pitchFamily="34" charset="0"/>
            </a:endParaRPr>
          </a:p>
        </p:txBody>
      </p:sp>
      <p:cxnSp>
        <p:nvCxnSpPr>
          <p:cNvPr id="46" name="Straight Connector 8">
            <a:extLst>
              <a:ext uri="{FF2B5EF4-FFF2-40B4-BE49-F238E27FC236}">
                <a16:creationId xmlns:a16="http://schemas.microsoft.com/office/drawing/2014/main" id="{B4BBAC0A-F05A-C25B-F965-482BA3FE023A}"/>
              </a:ext>
            </a:extLst>
          </p:cNvPr>
          <p:cNvCxnSpPr>
            <a:cxnSpLocks/>
          </p:cNvCxnSpPr>
          <p:nvPr/>
        </p:nvCxnSpPr>
        <p:spPr bwMode="auto">
          <a:xfrm>
            <a:off x="343925" y="5251493"/>
            <a:ext cx="13848080" cy="1"/>
          </a:xfrm>
          <a:prstGeom prst="line">
            <a:avLst/>
          </a:prstGeom>
          <a:noFill/>
          <a:ln w="25400" cap="flat" cmpd="sng" algn="ctr">
            <a:solidFill>
              <a:schemeClr val="tx1"/>
            </a:solidFill>
            <a:prstDash val="dash"/>
            <a:round/>
            <a:headEnd type="none" w="med" len="med"/>
            <a:tailEnd type="none" w="med" len="med"/>
          </a:ln>
          <a:effectLst/>
        </p:spPr>
      </p:cxnSp>
      <p:sp>
        <p:nvSpPr>
          <p:cNvPr id="126" name="文本框 125">
            <a:extLst>
              <a:ext uri="{FF2B5EF4-FFF2-40B4-BE49-F238E27FC236}">
                <a16:creationId xmlns:a16="http://schemas.microsoft.com/office/drawing/2014/main" id="{F0BC662C-612D-E50C-5259-943ACC140510}"/>
              </a:ext>
            </a:extLst>
          </p:cNvPr>
          <p:cNvSpPr txBox="1"/>
          <p:nvPr/>
        </p:nvSpPr>
        <p:spPr>
          <a:xfrm>
            <a:off x="7801909" y="5331497"/>
            <a:ext cx="6584174" cy="338554"/>
          </a:xfrm>
          <a:prstGeom prst="rect">
            <a:avLst/>
          </a:prstGeom>
          <a:noFill/>
        </p:spPr>
        <p:txBody>
          <a:bodyPr wrap="square" rtlCol="0">
            <a:spAutoFit/>
          </a:bodyPr>
          <a:lstStyle/>
          <a:p>
            <a:r>
              <a:rPr lang="en-US" altLang="zh-CN" sz="1600" b="1" u="sng" dirty="0">
                <a:latin typeface="微软雅黑" panose="020B0503020204020204" charset="-122"/>
                <a:ea typeface="微软雅黑" panose="020B0503020204020204" charset="-122"/>
              </a:rPr>
              <a:t>Main contributions: </a:t>
            </a:r>
          </a:p>
        </p:txBody>
      </p:sp>
      <p:sp>
        <p:nvSpPr>
          <p:cNvPr id="128" name="矩形 127">
            <a:extLst>
              <a:ext uri="{FF2B5EF4-FFF2-40B4-BE49-F238E27FC236}">
                <a16:creationId xmlns:a16="http://schemas.microsoft.com/office/drawing/2014/main" id="{9B311B08-3AB0-B3BA-46E2-02287F4EC4F1}"/>
              </a:ext>
            </a:extLst>
          </p:cNvPr>
          <p:cNvSpPr/>
          <p:nvPr/>
        </p:nvSpPr>
        <p:spPr>
          <a:xfrm>
            <a:off x="137160" y="9577687"/>
            <a:ext cx="6901180" cy="5500826"/>
          </a:xfrm>
          <a:prstGeom prst="rect">
            <a:avLst/>
          </a:prstGeom>
          <a:ln w="19050">
            <a:solidFill>
              <a:schemeClr val="tx1"/>
            </a:solidFill>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dirty="0"/>
          </a:p>
        </p:txBody>
      </p:sp>
      <p:sp>
        <p:nvSpPr>
          <p:cNvPr id="19" name="文本框 18">
            <a:extLst>
              <a:ext uri="{FF2B5EF4-FFF2-40B4-BE49-F238E27FC236}">
                <a16:creationId xmlns:a16="http://schemas.microsoft.com/office/drawing/2014/main" id="{C8D2445C-7105-8467-381E-DDA2900819D4}"/>
              </a:ext>
            </a:extLst>
          </p:cNvPr>
          <p:cNvSpPr txBox="1"/>
          <p:nvPr/>
        </p:nvSpPr>
        <p:spPr>
          <a:xfrm>
            <a:off x="2363126" y="9582964"/>
            <a:ext cx="2727047" cy="461665"/>
          </a:xfrm>
          <a:prstGeom prst="rect">
            <a:avLst/>
          </a:prstGeom>
          <a:noFill/>
        </p:spPr>
        <p:txBody>
          <a:bodyPr wrap="square" rtlCol="0">
            <a:spAutoFit/>
          </a:bodyPr>
          <a:lstStyle/>
          <a:p>
            <a:pPr algn="ctr"/>
            <a:r>
              <a:rPr lang="en-US" altLang="zh-CN" sz="2400" b="1" dirty="0">
                <a:solidFill>
                  <a:srgbClr val="F76902"/>
                </a:solidFill>
              </a:rPr>
              <a:t>MEPT</a:t>
            </a:r>
            <a:endParaRPr lang="zh-CN" altLang="en-US" sz="2400" b="1" dirty="0">
              <a:solidFill>
                <a:srgbClr val="F76902"/>
              </a:solidFill>
            </a:endParaRPr>
          </a:p>
        </p:txBody>
      </p:sp>
      <p:sp>
        <p:nvSpPr>
          <p:cNvPr id="35" name="文本框 34">
            <a:extLst>
              <a:ext uri="{FF2B5EF4-FFF2-40B4-BE49-F238E27FC236}">
                <a16:creationId xmlns:a16="http://schemas.microsoft.com/office/drawing/2014/main" id="{C9C21281-B775-E2E4-B7FE-A0DD07FAA833}"/>
              </a:ext>
            </a:extLst>
          </p:cNvPr>
          <p:cNvSpPr txBox="1"/>
          <p:nvPr/>
        </p:nvSpPr>
        <p:spPr>
          <a:xfrm>
            <a:off x="7544900" y="5671481"/>
            <a:ext cx="6742950" cy="2246769"/>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i="1" dirty="0">
                <a:solidFill>
                  <a:srgbClr val="F76902"/>
                </a:solidFill>
                <a:latin typeface="微软雅黑" panose="020B0503020204020204" charset="-122"/>
                <a:ea typeface="微软雅黑" panose="020B0503020204020204" charset="-122"/>
              </a:rPr>
              <a:t>Unveil the essence of neural network learning</a:t>
            </a:r>
            <a:r>
              <a:rPr lang="zh-CN" altLang="en-US" sz="1400" b="1" i="1" dirty="0">
                <a:solidFill>
                  <a:srgbClr val="F76902"/>
                </a:solidFill>
                <a:latin typeface="微软雅黑" panose="020B0503020204020204" charset="-122"/>
                <a:ea typeface="微软雅黑" panose="020B0503020204020204" charset="-122"/>
              </a:rPr>
              <a:t> </a:t>
            </a:r>
            <a:r>
              <a:rPr lang="en-US" altLang="zh-CN" sz="1400" b="1" i="1" dirty="0">
                <a:solidFill>
                  <a:srgbClr val="F76902"/>
                </a:solidFill>
                <a:latin typeface="微软雅黑" panose="020B0503020204020204" charset="-122"/>
                <a:ea typeface="微软雅黑" panose="020B0503020204020204" charset="-122"/>
              </a:rPr>
              <a:t>through manifold visualization</a:t>
            </a:r>
            <a:r>
              <a:rPr lang="en-US" altLang="zh-CN" sz="1400" dirty="0">
                <a:latin typeface="微软雅黑" panose="020B0503020204020204" charset="-122"/>
                <a:ea typeface="微软雅黑" panose="020B0503020204020204" charset="-122"/>
              </a:rPr>
              <a:t>, crossvalidating</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our motivation and effectiveness</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under manifold learning theory while elucidating</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the decision-making process.</a:t>
            </a:r>
          </a:p>
          <a:p>
            <a:pPr marL="285750" indent="-285750">
              <a:buFont typeface="Wingdings" panose="05000000000000000000" charset="0"/>
              <a:buChar char="Ø"/>
            </a:pPr>
            <a:r>
              <a:rPr lang="en-US" altLang="zh-CN" sz="1400" b="1" i="1" dirty="0">
                <a:solidFill>
                  <a:srgbClr val="F76902"/>
                </a:solidFill>
                <a:latin typeface="微软雅黑" panose="020B0503020204020204" charset="-122"/>
                <a:ea typeface="微软雅黑" panose="020B0503020204020204" charset="-122"/>
              </a:rPr>
              <a:t>Investigate the potential of mixture</a:t>
            </a:r>
            <a:r>
              <a:rPr lang="zh-CN" altLang="en-US" sz="1400" b="1" i="1" dirty="0">
                <a:solidFill>
                  <a:srgbClr val="F76902"/>
                </a:solidFill>
                <a:latin typeface="微软雅黑" panose="020B0503020204020204" charset="-122"/>
                <a:ea typeface="微软雅黑" panose="020B0503020204020204" charset="-122"/>
              </a:rPr>
              <a:t> </a:t>
            </a:r>
            <a:r>
              <a:rPr lang="en-US" altLang="zh-CN" sz="1400" b="1" i="1" dirty="0">
                <a:solidFill>
                  <a:srgbClr val="F76902"/>
                </a:solidFill>
                <a:latin typeface="微软雅黑" panose="020B0503020204020204" charset="-122"/>
                <a:ea typeface="微软雅黑" panose="020B0503020204020204" charset="-122"/>
              </a:rPr>
              <a:t>training using a universal prompt embedding</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which imposes higher requirements for</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prompt generality. It highlights the importance</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of MoE, providing valuable insights for</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future PEFT architecture design.</a:t>
            </a:r>
          </a:p>
          <a:p>
            <a:pPr marL="285750" indent="-285750">
              <a:buFont typeface="Wingdings" panose="05000000000000000000" charset="0"/>
              <a:buChar char="Ø"/>
            </a:pPr>
            <a:r>
              <a:rPr lang="en-US" altLang="zh-CN" sz="1400" b="1" i="1" dirty="0">
                <a:solidFill>
                  <a:srgbClr val="F76902"/>
                </a:solidFill>
                <a:latin typeface="微软雅黑" panose="020B0503020204020204" charset="-122"/>
                <a:ea typeface="微软雅黑" panose="020B0503020204020204" charset="-122"/>
              </a:rPr>
              <a:t>Conduct comprehensive experiments on</a:t>
            </a:r>
            <a:r>
              <a:rPr lang="zh-CN" altLang="en-US" sz="1400" b="1" i="1" dirty="0">
                <a:solidFill>
                  <a:srgbClr val="F76902"/>
                </a:solidFill>
                <a:latin typeface="微软雅黑" panose="020B0503020204020204" charset="-122"/>
                <a:ea typeface="微软雅黑" panose="020B0503020204020204" charset="-122"/>
              </a:rPr>
              <a:t> </a:t>
            </a:r>
            <a:r>
              <a:rPr lang="en-US" altLang="zh-CN" sz="1400" b="1" i="1" dirty="0">
                <a:solidFill>
                  <a:srgbClr val="F76902"/>
                </a:solidFill>
                <a:latin typeface="微软雅黑" panose="020B0503020204020204" charset="-122"/>
                <a:ea typeface="微软雅黑" panose="020B0503020204020204" charset="-122"/>
              </a:rPr>
              <a:t>various tasks and LLM sizes in the Super-GLUE benchmark</a:t>
            </a:r>
            <a:r>
              <a:rPr lang="en-US" altLang="zh-CN" sz="1400" dirty="0">
                <a:solidFill>
                  <a:schemeClr val="tx1"/>
                </a:solidFill>
                <a:latin typeface="微软雅黑" panose="020B0503020204020204" charset="-122"/>
                <a:ea typeface="微软雅黑" panose="020B0503020204020204" charset="-122"/>
              </a:rPr>
              <a:t>, demonstrating the effectiveness</a:t>
            </a:r>
            <a:r>
              <a:rPr lang="zh-CN" altLang="en-US" sz="1400" dirty="0">
                <a:solidFill>
                  <a:schemeClr val="tx1"/>
                </a:solidFill>
                <a:latin typeface="微软雅黑" panose="020B0503020204020204" charset="-122"/>
                <a:ea typeface="微软雅黑" panose="020B0503020204020204" charset="-122"/>
              </a:rPr>
              <a:t> </a:t>
            </a:r>
            <a:r>
              <a:rPr lang="en-US" altLang="zh-CN" sz="1400" dirty="0">
                <a:solidFill>
                  <a:schemeClr val="tx1"/>
                </a:solidFill>
                <a:latin typeface="微软雅黑" panose="020B0503020204020204" charset="-122"/>
                <a:ea typeface="微软雅黑" panose="020B0503020204020204" charset="-122"/>
              </a:rPr>
              <a:t>of MEPT over several state-of-the-art</a:t>
            </a:r>
            <a:r>
              <a:rPr lang="zh-CN" altLang="en-US" sz="1400" dirty="0">
                <a:solidFill>
                  <a:schemeClr val="tx1"/>
                </a:solidFill>
                <a:latin typeface="微软雅黑" panose="020B0503020204020204" charset="-122"/>
                <a:ea typeface="微软雅黑" panose="020B0503020204020204" charset="-122"/>
              </a:rPr>
              <a:t> </a:t>
            </a:r>
            <a:r>
              <a:rPr lang="en-US" altLang="zh-CN" sz="1400" dirty="0">
                <a:solidFill>
                  <a:schemeClr val="tx1"/>
                </a:solidFill>
                <a:latin typeface="微软雅黑" panose="020B0503020204020204" charset="-122"/>
                <a:ea typeface="微软雅黑" panose="020B0503020204020204" charset="-122"/>
              </a:rPr>
              <a:t>prompt tuning and full fine-tuning methods.</a:t>
            </a:r>
            <a:endParaRPr lang="zh-CN" altLang="en-US" sz="1400" dirty="0">
              <a:latin typeface="微软雅黑" panose="020B0503020204020204" charset="-122"/>
              <a:ea typeface="微软雅黑" panose="020B0503020204020204" charset="-122"/>
            </a:endParaRPr>
          </a:p>
        </p:txBody>
      </p:sp>
      <p:sp>
        <p:nvSpPr>
          <p:cNvPr id="34" name="Rectangle 33">
            <a:extLst>
              <a:ext uri="{FF2B5EF4-FFF2-40B4-BE49-F238E27FC236}">
                <a16:creationId xmlns:a16="http://schemas.microsoft.com/office/drawing/2014/main" id="{2D779C63-5D6A-145D-C2F7-FE25C3D0686A}"/>
              </a:ext>
            </a:extLst>
          </p:cNvPr>
          <p:cNvSpPr/>
          <p:nvPr/>
        </p:nvSpPr>
        <p:spPr>
          <a:xfrm rot="10800000">
            <a:off x="-635" y="20992449"/>
            <a:ext cx="14400848" cy="621624"/>
          </a:xfrm>
          <a:prstGeom prst="rect">
            <a:avLst/>
          </a:prstGeom>
          <a:gradFill>
            <a:gsLst>
              <a:gs pos="0">
                <a:schemeClr val="accent1">
                  <a:lumMod val="5000"/>
                  <a:lumOff val="95000"/>
                  <a:alpha val="0"/>
                </a:schemeClr>
              </a:gs>
              <a:gs pos="100000">
                <a:schemeClr val="accent2">
                  <a:alpha val="56000"/>
                  <a:lumMod val="29000"/>
                  <a:lumOff val="71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descr="A black background with a white spot&#10;&#10;AI-generated content may be incorrect.">
            <a:extLst>
              <a:ext uri="{FF2B5EF4-FFF2-40B4-BE49-F238E27FC236}">
                <a16:creationId xmlns:a16="http://schemas.microsoft.com/office/drawing/2014/main" id="{2FC6AB57-764B-C037-B2EE-6DC3CE459D56}"/>
              </a:ext>
            </a:extLst>
          </p:cNvPr>
          <p:cNvPicPr>
            <a:picLocks noChangeAspect="1"/>
          </p:cNvPicPr>
          <p:nvPr/>
        </p:nvPicPr>
        <p:blipFill>
          <a:blip r:embed="rId5"/>
          <a:stretch>
            <a:fillRect/>
          </a:stretch>
        </p:blipFill>
        <p:spPr>
          <a:xfrm>
            <a:off x="5633480" y="21057576"/>
            <a:ext cx="3104357" cy="510585"/>
          </a:xfrm>
          <a:prstGeom prst="rect">
            <a:avLst/>
          </a:prstGeom>
        </p:spPr>
      </p:pic>
      <p:pic>
        <p:nvPicPr>
          <p:cNvPr id="44" name="Picture 43" descr="A black and orange letter&#10;&#10;AI-generated content may be incorrect.">
            <a:extLst>
              <a:ext uri="{FF2B5EF4-FFF2-40B4-BE49-F238E27FC236}">
                <a16:creationId xmlns:a16="http://schemas.microsoft.com/office/drawing/2014/main" id="{C762C896-52C6-9042-F70A-25462BC8C183}"/>
              </a:ext>
            </a:extLst>
          </p:cNvPr>
          <p:cNvPicPr>
            <a:picLocks noChangeAspect="1"/>
          </p:cNvPicPr>
          <p:nvPr/>
        </p:nvPicPr>
        <p:blipFill>
          <a:blip r:embed="rId6"/>
          <a:stretch>
            <a:fillRect/>
          </a:stretch>
        </p:blipFill>
        <p:spPr>
          <a:xfrm>
            <a:off x="1531363" y="2496484"/>
            <a:ext cx="1146536" cy="443387"/>
          </a:xfrm>
          <a:prstGeom prst="rect">
            <a:avLst/>
          </a:prstGeom>
        </p:spPr>
      </p:pic>
      <p:pic>
        <p:nvPicPr>
          <p:cNvPr id="47" name="Picture 46" descr="Blue text on a black background&#10;&#10;AI-generated content may be incorrect.">
            <a:extLst>
              <a:ext uri="{FF2B5EF4-FFF2-40B4-BE49-F238E27FC236}">
                <a16:creationId xmlns:a16="http://schemas.microsoft.com/office/drawing/2014/main" id="{8DC1101D-0828-29A4-9F39-BAC407100884}"/>
              </a:ext>
            </a:extLst>
          </p:cNvPr>
          <p:cNvPicPr>
            <a:picLocks noChangeAspect="1"/>
          </p:cNvPicPr>
          <p:nvPr/>
        </p:nvPicPr>
        <p:blipFill>
          <a:blip r:embed="rId7"/>
          <a:stretch>
            <a:fillRect/>
          </a:stretch>
        </p:blipFill>
        <p:spPr>
          <a:xfrm>
            <a:off x="2844556" y="2496484"/>
            <a:ext cx="2204707" cy="463333"/>
          </a:xfrm>
          <a:prstGeom prst="rect">
            <a:avLst/>
          </a:prstGeom>
        </p:spPr>
      </p:pic>
      <p:pic>
        <p:nvPicPr>
          <p:cNvPr id="49" name="Picture 48" descr="A blue letter on a black background&#10;&#10;AI-generated content may be incorrect.">
            <a:extLst>
              <a:ext uri="{FF2B5EF4-FFF2-40B4-BE49-F238E27FC236}">
                <a16:creationId xmlns:a16="http://schemas.microsoft.com/office/drawing/2014/main" id="{21B401F0-0C75-3D96-D5A8-9B7EAD0DBC62}"/>
              </a:ext>
            </a:extLst>
          </p:cNvPr>
          <p:cNvPicPr>
            <a:picLocks noChangeAspect="1"/>
          </p:cNvPicPr>
          <p:nvPr/>
        </p:nvPicPr>
        <p:blipFill>
          <a:blip r:embed="rId8"/>
          <a:stretch>
            <a:fillRect/>
          </a:stretch>
        </p:blipFill>
        <p:spPr>
          <a:xfrm>
            <a:off x="7126348" y="2502452"/>
            <a:ext cx="1209040" cy="443000"/>
          </a:xfrm>
          <a:prstGeom prst="rect">
            <a:avLst/>
          </a:prstGeom>
        </p:spPr>
      </p:pic>
      <p:pic>
        <p:nvPicPr>
          <p:cNvPr id="53" name="Picture 52" descr="A black letter with a white background&#10;&#10;AI-generated content may be incorrect.">
            <a:extLst>
              <a:ext uri="{FF2B5EF4-FFF2-40B4-BE49-F238E27FC236}">
                <a16:creationId xmlns:a16="http://schemas.microsoft.com/office/drawing/2014/main" id="{7FD12967-60A2-9E0D-C8DD-9A173EBF9ABE}"/>
              </a:ext>
            </a:extLst>
          </p:cNvPr>
          <p:cNvPicPr>
            <a:picLocks noChangeAspect="1"/>
          </p:cNvPicPr>
          <p:nvPr/>
        </p:nvPicPr>
        <p:blipFill>
          <a:blip r:embed="rId9"/>
          <a:stretch>
            <a:fillRect/>
          </a:stretch>
        </p:blipFill>
        <p:spPr>
          <a:xfrm>
            <a:off x="5215013" y="2522638"/>
            <a:ext cx="1741165" cy="348233"/>
          </a:xfrm>
          <a:prstGeom prst="rect">
            <a:avLst/>
          </a:prstGeom>
        </p:spPr>
      </p:pic>
      <p:pic>
        <p:nvPicPr>
          <p:cNvPr id="57" name="Picture 56" descr="A black background with a black square&#10;&#10;AI-generated content may be incorrect.">
            <a:extLst>
              <a:ext uri="{FF2B5EF4-FFF2-40B4-BE49-F238E27FC236}">
                <a16:creationId xmlns:a16="http://schemas.microsoft.com/office/drawing/2014/main" id="{C71A3CDA-ABFB-944A-61CE-CDE315A29949}"/>
              </a:ext>
            </a:extLst>
          </p:cNvPr>
          <p:cNvPicPr>
            <a:picLocks noChangeAspect="1"/>
          </p:cNvPicPr>
          <p:nvPr/>
        </p:nvPicPr>
        <p:blipFill>
          <a:blip r:embed="rId10"/>
          <a:stretch>
            <a:fillRect/>
          </a:stretch>
        </p:blipFill>
        <p:spPr>
          <a:xfrm>
            <a:off x="9126556" y="2474967"/>
            <a:ext cx="1146536" cy="401288"/>
          </a:xfrm>
          <a:prstGeom prst="rect">
            <a:avLst/>
          </a:prstGeom>
        </p:spPr>
      </p:pic>
      <p:pic>
        <p:nvPicPr>
          <p:cNvPr id="59" name="Picture 58">
            <a:extLst>
              <a:ext uri="{FF2B5EF4-FFF2-40B4-BE49-F238E27FC236}">
                <a16:creationId xmlns:a16="http://schemas.microsoft.com/office/drawing/2014/main" id="{351D7715-AECA-B6A7-3BDB-8AB9B6EA3E52}"/>
              </a:ext>
            </a:extLst>
          </p:cNvPr>
          <p:cNvPicPr>
            <a:picLocks noChangeAspect="1"/>
          </p:cNvPicPr>
          <p:nvPr/>
        </p:nvPicPr>
        <p:blipFill>
          <a:blip r:embed="rId11"/>
          <a:srcRect r="88754" b="-16798"/>
          <a:stretch>
            <a:fillRect/>
          </a:stretch>
        </p:blipFill>
        <p:spPr>
          <a:xfrm>
            <a:off x="8505558" y="2496484"/>
            <a:ext cx="450828" cy="468237"/>
          </a:xfrm>
          <a:prstGeom prst="rect">
            <a:avLst/>
          </a:prstGeom>
        </p:spPr>
      </p:pic>
      <p:pic>
        <p:nvPicPr>
          <p:cNvPr id="61" name="Picture 60" descr="A blue and yellow logo&#10;&#10;AI-generated content may be incorrect.">
            <a:extLst>
              <a:ext uri="{FF2B5EF4-FFF2-40B4-BE49-F238E27FC236}">
                <a16:creationId xmlns:a16="http://schemas.microsoft.com/office/drawing/2014/main" id="{458DD28C-B215-5E7E-9BF3-554044470CB1}"/>
              </a:ext>
            </a:extLst>
          </p:cNvPr>
          <p:cNvPicPr>
            <a:picLocks noChangeAspect="1"/>
          </p:cNvPicPr>
          <p:nvPr/>
        </p:nvPicPr>
        <p:blipFill>
          <a:blip r:embed="rId12"/>
          <a:stretch>
            <a:fillRect/>
          </a:stretch>
        </p:blipFill>
        <p:spPr>
          <a:xfrm>
            <a:off x="10443262" y="2411838"/>
            <a:ext cx="946227" cy="414763"/>
          </a:xfrm>
          <a:prstGeom prst="rect">
            <a:avLst/>
          </a:prstGeom>
        </p:spPr>
      </p:pic>
      <p:pic>
        <p:nvPicPr>
          <p:cNvPr id="63" name="Picture 62" descr="A yellow letter on a black background&#10;&#10;AI-generated content may be incorrect.">
            <a:extLst>
              <a:ext uri="{FF2B5EF4-FFF2-40B4-BE49-F238E27FC236}">
                <a16:creationId xmlns:a16="http://schemas.microsoft.com/office/drawing/2014/main" id="{31AD027E-9DE3-9B9F-C086-7DC8FF371E7D}"/>
              </a:ext>
            </a:extLst>
          </p:cNvPr>
          <p:cNvPicPr>
            <a:picLocks noChangeAspect="1"/>
          </p:cNvPicPr>
          <p:nvPr/>
        </p:nvPicPr>
        <p:blipFill>
          <a:blip r:embed="rId13"/>
          <a:stretch>
            <a:fillRect/>
          </a:stretch>
        </p:blipFill>
        <p:spPr>
          <a:xfrm>
            <a:off x="11559659" y="2521849"/>
            <a:ext cx="1869566" cy="320250"/>
          </a:xfrm>
          <a:prstGeom prst="rect">
            <a:avLst/>
          </a:prstGeom>
        </p:spPr>
      </p:pic>
      <p:sp>
        <p:nvSpPr>
          <p:cNvPr id="67" name="TextBox 66">
            <a:extLst>
              <a:ext uri="{FF2B5EF4-FFF2-40B4-BE49-F238E27FC236}">
                <a16:creationId xmlns:a16="http://schemas.microsoft.com/office/drawing/2014/main" id="{F7E8CCD3-401C-119B-89BF-9D142B900670}"/>
              </a:ext>
            </a:extLst>
          </p:cNvPr>
          <p:cNvSpPr txBox="1"/>
          <p:nvPr/>
        </p:nvSpPr>
        <p:spPr>
          <a:xfrm>
            <a:off x="-14765" y="1508643"/>
            <a:ext cx="14429108" cy="830997"/>
          </a:xfrm>
          <a:prstGeom prst="rect">
            <a:avLst/>
          </a:prstGeom>
          <a:noFill/>
        </p:spPr>
        <p:txBody>
          <a:bodyPr wrap="square">
            <a:spAutoFit/>
          </a:bodyPr>
          <a:lstStyle/>
          <a:p>
            <a:pPr algn="ct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1</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Rochester Institute of Technology </a:t>
            </a: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2</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University of Rochester </a:t>
            </a: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3</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Meta AI </a:t>
            </a: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4</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Rice University</a:t>
            </a:r>
          </a:p>
          <a:p>
            <a:pPr algn="ct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5</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Case Western Reserve University </a:t>
            </a: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6</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U.S. DEVCOM Army Research Laboratory</a:t>
            </a:r>
          </a:p>
          <a:p>
            <a:pPr algn="ct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7</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University of Missouri - Kansas City </a:t>
            </a: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8</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UC Davis </a:t>
            </a:r>
            <a:r>
              <a:rPr lang="en-US" altLang="zh-CN" sz="1600" b="1" baseline="30000"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a:t>
            </a:r>
            <a:r>
              <a:rPr lang="en-US" altLang="zh-CN" sz="1600" b="1" dirty="0" err="1">
                <a:solidFill>
                  <a:schemeClr val="tx1">
                    <a:lumMod val="50000"/>
                    <a:lumOff val="50000"/>
                  </a:schemeClr>
                </a:solidFill>
                <a:latin typeface="Times New Roman" panose="02020603050405020304" pitchFamily="18" charset="0"/>
                <a:ea typeface="+mj-ea"/>
                <a:cs typeface="Times New Roman" panose="02020603050405020304" pitchFamily="18" charset="0"/>
              </a:rPr>
              <a:t>Corresponding author</a:t>
            </a:r>
            <a:endParaRPr lang="en-US" altLang="zh-CN" sz="1600" b="1" dirty="0">
              <a:solidFill>
                <a:schemeClr val="tx1">
                  <a:lumMod val="50000"/>
                  <a:lumOff val="50000"/>
                </a:schemeClr>
              </a:solidFill>
              <a:latin typeface="Times New Roman" panose="02020603050405020304" pitchFamily="18" charset="0"/>
              <a:ea typeface="+mj-ea"/>
              <a:cs typeface="Times New Roman" panose="02020603050405020304" pitchFamily="18" charset="0"/>
            </a:endParaRPr>
          </a:p>
        </p:txBody>
      </p:sp>
      <p:pic>
        <p:nvPicPr>
          <p:cNvPr id="71" name="Picture 70" descr="A black background with a black square&#10;&#10;AI-generated content may be incorrect.">
            <a:extLst>
              <a:ext uri="{FF2B5EF4-FFF2-40B4-BE49-F238E27FC236}">
                <a16:creationId xmlns:a16="http://schemas.microsoft.com/office/drawing/2014/main" id="{09EBE4AF-EB6C-A489-0043-2DB356F71040}"/>
              </a:ext>
            </a:extLst>
          </p:cNvPr>
          <p:cNvPicPr>
            <a:picLocks noChangeAspect="1"/>
          </p:cNvPicPr>
          <p:nvPr/>
        </p:nvPicPr>
        <p:blipFill>
          <a:blip r:embed="rId14"/>
          <a:stretch>
            <a:fillRect/>
          </a:stretch>
        </p:blipFill>
        <p:spPr>
          <a:xfrm>
            <a:off x="12156413" y="59069"/>
            <a:ext cx="2250865" cy="2250865"/>
          </a:xfrm>
          <a:prstGeom prst="rect">
            <a:avLst/>
          </a:prstGeom>
        </p:spPr>
      </p:pic>
      <p:pic>
        <p:nvPicPr>
          <p:cNvPr id="72" name="Picture 71">
            <a:extLst>
              <a:ext uri="{FF2B5EF4-FFF2-40B4-BE49-F238E27FC236}">
                <a16:creationId xmlns:a16="http://schemas.microsoft.com/office/drawing/2014/main" id="{072491AE-BC8F-59DE-0201-0105C0A02E35}"/>
              </a:ext>
            </a:extLst>
          </p:cNvPr>
          <p:cNvPicPr>
            <a:picLocks noChangeAspect="1"/>
          </p:cNvPicPr>
          <p:nvPr/>
        </p:nvPicPr>
        <p:blipFill>
          <a:blip r:embed="rId15"/>
          <a:srcRect l="-1" r="273"/>
          <a:stretch>
            <a:fillRect/>
          </a:stretch>
        </p:blipFill>
        <p:spPr>
          <a:xfrm>
            <a:off x="71903" y="5426030"/>
            <a:ext cx="3950351" cy="2448773"/>
          </a:xfrm>
          <a:prstGeom prst="rect">
            <a:avLst/>
          </a:prstGeom>
        </p:spPr>
      </p:pic>
      <p:pic>
        <p:nvPicPr>
          <p:cNvPr id="4" name="Picture 3">
            <a:extLst>
              <a:ext uri="{FF2B5EF4-FFF2-40B4-BE49-F238E27FC236}">
                <a16:creationId xmlns:a16="http://schemas.microsoft.com/office/drawing/2014/main" id="{19C894D3-1E6A-A1AD-E2B4-E58EA06295AB}"/>
              </a:ext>
            </a:extLst>
          </p:cNvPr>
          <p:cNvPicPr>
            <a:picLocks noChangeAspect="1"/>
          </p:cNvPicPr>
          <p:nvPr/>
        </p:nvPicPr>
        <p:blipFill>
          <a:blip r:embed="rId16"/>
          <a:stretch>
            <a:fillRect/>
          </a:stretch>
        </p:blipFill>
        <p:spPr>
          <a:xfrm>
            <a:off x="286674" y="15581019"/>
            <a:ext cx="13867931" cy="4006732"/>
          </a:xfrm>
          <a:prstGeom prst="rect">
            <a:avLst/>
          </a:prstGeom>
        </p:spPr>
      </p:pic>
      <p:sp>
        <p:nvSpPr>
          <p:cNvPr id="8" name="矩形 127">
            <a:extLst>
              <a:ext uri="{FF2B5EF4-FFF2-40B4-BE49-F238E27FC236}">
                <a16:creationId xmlns:a16="http://schemas.microsoft.com/office/drawing/2014/main" id="{3D53CEBE-18F9-E7C9-42B8-B9A265031F17}"/>
              </a:ext>
            </a:extLst>
          </p:cNvPr>
          <p:cNvSpPr/>
          <p:nvPr/>
        </p:nvSpPr>
        <p:spPr>
          <a:xfrm>
            <a:off x="134807" y="15223753"/>
            <a:ext cx="14128245" cy="5670951"/>
          </a:xfrm>
          <a:prstGeom prst="rect">
            <a:avLst/>
          </a:prstGeom>
          <a:ln w="19050">
            <a:solidFill>
              <a:schemeClr val="tx1"/>
            </a:solidFill>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dirty="0"/>
          </a:p>
        </p:txBody>
      </p:sp>
      <p:sp>
        <p:nvSpPr>
          <p:cNvPr id="9" name="文本框 18">
            <a:extLst>
              <a:ext uri="{FF2B5EF4-FFF2-40B4-BE49-F238E27FC236}">
                <a16:creationId xmlns:a16="http://schemas.microsoft.com/office/drawing/2014/main" id="{2FFB4B3D-3893-53B9-FCF8-603F50BBD219}"/>
              </a:ext>
            </a:extLst>
          </p:cNvPr>
          <p:cNvSpPr txBox="1"/>
          <p:nvPr/>
        </p:nvSpPr>
        <p:spPr>
          <a:xfrm>
            <a:off x="134808" y="15253915"/>
            <a:ext cx="14128244" cy="461665"/>
          </a:xfrm>
          <a:prstGeom prst="rect">
            <a:avLst/>
          </a:prstGeom>
          <a:noFill/>
        </p:spPr>
        <p:txBody>
          <a:bodyPr wrap="square" rtlCol="0">
            <a:spAutoFit/>
          </a:bodyPr>
          <a:lstStyle/>
          <a:p>
            <a:pPr algn="ctr"/>
            <a:r>
              <a:rPr lang="en-US" altLang="zh-CN" sz="2400" b="1" dirty="0">
                <a:solidFill>
                  <a:srgbClr val="F76902"/>
                </a:solidFill>
              </a:rPr>
              <a:t>Manifold Mapping Pathway</a:t>
            </a:r>
            <a:endParaRPr lang="zh-CN" altLang="en-US" sz="2400" b="1" dirty="0">
              <a:solidFill>
                <a:srgbClr val="F76902"/>
              </a:solidFill>
            </a:endParaRPr>
          </a:p>
        </p:txBody>
      </p:sp>
      <p:grpSp>
        <p:nvGrpSpPr>
          <p:cNvPr id="40" name="Group 39">
            <a:extLst>
              <a:ext uri="{FF2B5EF4-FFF2-40B4-BE49-F238E27FC236}">
                <a16:creationId xmlns:a16="http://schemas.microsoft.com/office/drawing/2014/main" id="{D2D9CE3B-D6B7-665D-F7D9-C17077A3D8FE}"/>
              </a:ext>
            </a:extLst>
          </p:cNvPr>
          <p:cNvGrpSpPr/>
          <p:nvPr/>
        </p:nvGrpSpPr>
        <p:grpSpPr>
          <a:xfrm>
            <a:off x="3885803" y="8002615"/>
            <a:ext cx="460382" cy="523220"/>
            <a:chOff x="436088" y="8002615"/>
            <a:chExt cx="460382" cy="523220"/>
          </a:xfrm>
        </p:grpSpPr>
        <p:sp>
          <p:nvSpPr>
            <p:cNvPr id="42" name="Oval 41">
              <a:extLst>
                <a:ext uri="{FF2B5EF4-FFF2-40B4-BE49-F238E27FC236}">
                  <a16:creationId xmlns:a16="http://schemas.microsoft.com/office/drawing/2014/main" id="{3A7ED7DD-E277-FD96-D647-5DCB37F4054D}"/>
                </a:ext>
              </a:extLst>
            </p:cNvPr>
            <p:cNvSpPr/>
            <p:nvPr/>
          </p:nvSpPr>
          <p:spPr>
            <a:xfrm>
              <a:off x="466439" y="8077709"/>
              <a:ext cx="399680" cy="399680"/>
            </a:xfrm>
            <a:prstGeom prst="ellipse">
              <a:avLst/>
            </a:prstGeom>
            <a:solidFill>
              <a:srgbClr val="F76902">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9B9079-9C9E-3170-9EA3-5A093C8E8CF5}"/>
                </a:ext>
              </a:extLst>
            </p:cNvPr>
            <p:cNvSpPr txBox="1"/>
            <p:nvPr/>
          </p:nvSpPr>
          <p:spPr>
            <a:xfrm>
              <a:off x="436088" y="8002615"/>
              <a:ext cx="460382" cy="523220"/>
            </a:xfrm>
            <a:prstGeom prst="rect">
              <a:avLst/>
            </a:prstGeom>
            <a:noFill/>
          </p:spPr>
          <p:txBody>
            <a:bodyPr wrap="none" rtlCol="0">
              <a:spAutoFit/>
            </a:bodyPr>
            <a:lstStyle/>
            <a:p>
              <a:r>
                <a:rPr lang="en-US" altLang="zh-CN" sz="2800">
                  <a:solidFill>
                    <a:schemeClr val="bg1"/>
                  </a:solidFill>
                  <a:latin typeface="Nura Black" pitchFamily="2" charset="77"/>
                  <a:cs typeface="Phosphate Inline" panose="02000506050000020004" pitchFamily="2" charset="77"/>
                </a:rPr>
                <a:t>2</a:t>
              </a:r>
              <a:endParaRPr lang="en-US" sz="2800">
                <a:solidFill>
                  <a:schemeClr val="bg1"/>
                </a:solidFill>
                <a:latin typeface="Nura Black" pitchFamily="2" charset="77"/>
                <a:cs typeface="Phosphate Inline" panose="02000506050000020004" pitchFamily="2" charset="77"/>
              </a:endParaRPr>
            </a:p>
          </p:txBody>
        </p:sp>
      </p:grpSp>
      <p:grpSp>
        <p:nvGrpSpPr>
          <p:cNvPr id="51" name="Group 50">
            <a:extLst>
              <a:ext uri="{FF2B5EF4-FFF2-40B4-BE49-F238E27FC236}">
                <a16:creationId xmlns:a16="http://schemas.microsoft.com/office/drawing/2014/main" id="{0A39E429-AECA-D5C0-8C6B-C1A8256FC033}"/>
              </a:ext>
            </a:extLst>
          </p:cNvPr>
          <p:cNvGrpSpPr/>
          <p:nvPr/>
        </p:nvGrpSpPr>
        <p:grpSpPr>
          <a:xfrm>
            <a:off x="343925" y="8010054"/>
            <a:ext cx="399680" cy="523220"/>
            <a:chOff x="466439" y="8010054"/>
            <a:chExt cx="399680" cy="523220"/>
          </a:xfrm>
        </p:grpSpPr>
        <p:sp>
          <p:nvSpPr>
            <p:cNvPr id="52" name="Oval 51">
              <a:extLst>
                <a:ext uri="{FF2B5EF4-FFF2-40B4-BE49-F238E27FC236}">
                  <a16:creationId xmlns:a16="http://schemas.microsoft.com/office/drawing/2014/main" id="{6C278C0A-FF05-7F08-6C47-5B2DE2ADAB2E}"/>
                </a:ext>
              </a:extLst>
            </p:cNvPr>
            <p:cNvSpPr/>
            <p:nvPr/>
          </p:nvSpPr>
          <p:spPr>
            <a:xfrm>
              <a:off x="466439" y="8077709"/>
              <a:ext cx="399680" cy="399680"/>
            </a:xfrm>
            <a:prstGeom prst="ellipse">
              <a:avLst/>
            </a:prstGeom>
            <a:solidFill>
              <a:srgbClr val="F76902">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9F73E305-1780-A0DF-0B0B-36F9BE2BF7D7}"/>
                </a:ext>
              </a:extLst>
            </p:cNvPr>
            <p:cNvSpPr txBox="1"/>
            <p:nvPr/>
          </p:nvSpPr>
          <p:spPr>
            <a:xfrm>
              <a:off x="501811" y="8010054"/>
              <a:ext cx="328936" cy="523220"/>
            </a:xfrm>
            <a:prstGeom prst="rect">
              <a:avLst/>
            </a:prstGeom>
            <a:noFill/>
          </p:spPr>
          <p:txBody>
            <a:bodyPr wrap="none" rtlCol="0">
              <a:spAutoFit/>
            </a:bodyPr>
            <a:lstStyle/>
            <a:p>
              <a:r>
                <a:rPr lang="en-US" altLang="zh-CN" sz="2800">
                  <a:solidFill>
                    <a:schemeClr val="bg1"/>
                  </a:solidFill>
                  <a:latin typeface="Nura Black" pitchFamily="2" charset="77"/>
                  <a:cs typeface="Phosphate Inline" panose="02000506050000020004" pitchFamily="2" charset="77"/>
                </a:rPr>
                <a:t>1</a:t>
              </a:r>
              <a:endParaRPr lang="en-US" sz="2800">
                <a:solidFill>
                  <a:schemeClr val="bg1"/>
                </a:solidFill>
                <a:latin typeface="Nura Black" pitchFamily="2" charset="77"/>
                <a:cs typeface="Phosphate Inline" panose="02000506050000020004" pitchFamily="2" charset="77"/>
              </a:endParaRPr>
            </a:p>
          </p:txBody>
        </p:sp>
      </p:grpSp>
      <p:grpSp>
        <p:nvGrpSpPr>
          <p:cNvPr id="55" name="Group 54">
            <a:extLst>
              <a:ext uri="{FF2B5EF4-FFF2-40B4-BE49-F238E27FC236}">
                <a16:creationId xmlns:a16="http://schemas.microsoft.com/office/drawing/2014/main" id="{7F935DE8-FAA3-8E69-97D0-C12F774E0706}"/>
              </a:ext>
            </a:extLst>
          </p:cNvPr>
          <p:cNvGrpSpPr/>
          <p:nvPr/>
        </p:nvGrpSpPr>
        <p:grpSpPr>
          <a:xfrm>
            <a:off x="9499619" y="8010641"/>
            <a:ext cx="460382" cy="523220"/>
            <a:chOff x="436088" y="8010641"/>
            <a:chExt cx="460382" cy="523220"/>
          </a:xfrm>
        </p:grpSpPr>
        <p:sp>
          <p:nvSpPr>
            <p:cNvPr id="56" name="Oval 55">
              <a:extLst>
                <a:ext uri="{FF2B5EF4-FFF2-40B4-BE49-F238E27FC236}">
                  <a16:creationId xmlns:a16="http://schemas.microsoft.com/office/drawing/2014/main" id="{D45D3C8E-216E-E979-E995-F86A6F8C4CD9}"/>
                </a:ext>
              </a:extLst>
            </p:cNvPr>
            <p:cNvSpPr/>
            <p:nvPr/>
          </p:nvSpPr>
          <p:spPr>
            <a:xfrm>
              <a:off x="466439" y="8077709"/>
              <a:ext cx="399680" cy="399680"/>
            </a:xfrm>
            <a:prstGeom prst="ellipse">
              <a:avLst/>
            </a:prstGeom>
            <a:solidFill>
              <a:srgbClr val="F76902">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4D73220-78C1-06B1-B5D8-FEC56CB98D66}"/>
                </a:ext>
              </a:extLst>
            </p:cNvPr>
            <p:cNvSpPr txBox="1"/>
            <p:nvPr/>
          </p:nvSpPr>
          <p:spPr>
            <a:xfrm>
              <a:off x="436088" y="8010641"/>
              <a:ext cx="460382" cy="523220"/>
            </a:xfrm>
            <a:prstGeom prst="rect">
              <a:avLst/>
            </a:prstGeom>
            <a:noFill/>
          </p:spPr>
          <p:txBody>
            <a:bodyPr wrap="none" rtlCol="0">
              <a:spAutoFit/>
            </a:bodyPr>
            <a:lstStyle/>
            <a:p>
              <a:r>
                <a:rPr lang="en-US" altLang="zh-CN" sz="2800">
                  <a:solidFill>
                    <a:schemeClr val="bg1"/>
                  </a:solidFill>
                  <a:latin typeface="Nura Black" pitchFamily="2" charset="77"/>
                  <a:cs typeface="Phosphate Inline" panose="02000506050000020004" pitchFamily="2" charset="77"/>
                </a:rPr>
                <a:t>3</a:t>
              </a:r>
              <a:endParaRPr lang="en-US" sz="2800">
                <a:solidFill>
                  <a:schemeClr val="bg1"/>
                </a:solidFill>
                <a:latin typeface="Nura Black" pitchFamily="2" charset="77"/>
                <a:cs typeface="Phosphate Inline" panose="02000506050000020004" pitchFamily="2" charset="77"/>
              </a:endParaRPr>
            </a:p>
          </p:txBody>
        </p:sp>
      </p:grpSp>
      <p:sp>
        <p:nvSpPr>
          <p:cNvPr id="69" name="TextBox 68">
            <a:extLst>
              <a:ext uri="{FF2B5EF4-FFF2-40B4-BE49-F238E27FC236}">
                <a16:creationId xmlns:a16="http://schemas.microsoft.com/office/drawing/2014/main" id="{2E2AA919-597B-491B-93BC-2F64C3345FEF}"/>
              </a:ext>
            </a:extLst>
          </p:cNvPr>
          <p:cNvSpPr txBox="1"/>
          <p:nvPr/>
        </p:nvSpPr>
        <p:spPr>
          <a:xfrm>
            <a:off x="280027" y="8525835"/>
            <a:ext cx="3557187" cy="954107"/>
          </a:xfrm>
          <a:prstGeom prst="rect">
            <a:avLst/>
          </a:prstGeom>
          <a:noFill/>
        </p:spPr>
        <p:txBody>
          <a:bodyPr wrap="square">
            <a:spAutoFit/>
          </a:bodyPr>
          <a:lstStyle/>
          <a:p>
            <a:r>
              <a:rPr lang="en-US" altLang="zh-CN" sz="1400" dirty="0">
                <a:latin typeface="微软雅黑" panose="020B0503020204020204" charset="-122"/>
                <a:ea typeface="微软雅黑" panose="020B0503020204020204" charset="-122"/>
              </a:rPr>
              <a:t>By employing a modular</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and adaptive MoE design, MEPT facilitates the handling of diverse and non-stationary data manifold</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mapping.</a:t>
            </a:r>
          </a:p>
        </p:txBody>
      </p:sp>
      <p:sp>
        <p:nvSpPr>
          <p:cNvPr id="70" name="TextBox 69">
            <a:extLst>
              <a:ext uri="{FF2B5EF4-FFF2-40B4-BE49-F238E27FC236}">
                <a16:creationId xmlns:a16="http://schemas.microsoft.com/office/drawing/2014/main" id="{C1761AE7-B0FB-E601-E508-76147C51DC48}"/>
              </a:ext>
            </a:extLst>
          </p:cNvPr>
          <p:cNvSpPr txBox="1"/>
          <p:nvPr/>
        </p:nvSpPr>
        <p:spPr>
          <a:xfrm>
            <a:off x="3867213" y="8507391"/>
            <a:ext cx="5756298" cy="954107"/>
          </a:xfrm>
          <a:prstGeom prst="rect">
            <a:avLst/>
          </a:prstGeom>
          <a:noFill/>
        </p:spPr>
        <p:txBody>
          <a:bodyPr wrap="square">
            <a:spAutoFit/>
          </a:bodyPr>
          <a:lstStyle/>
          <a:p>
            <a:r>
              <a:rPr lang="en-US" altLang="zh-CN" sz="1400" dirty="0">
                <a:latin typeface="微软雅黑" panose="020B0503020204020204" charset="-122"/>
                <a:ea typeface="微软雅黑" panose="020B0503020204020204" charset="-122"/>
              </a:rPr>
              <a:t>The sparse MoE architecture specializes in the representation of each prompt expert, enabling a compact and efficient neural pathway activation, which imposes no additional burden when scaling up the number of experts during training and inference.</a:t>
            </a:r>
          </a:p>
        </p:txBody>
      </p:sp>
      <p:sp>
        <p:nvSpPr>
          <p:cNvPr id="74" name="TextBox 73">
            <a:extLst>
              <a:ext uri="{FF2B5EF4-FFF2-40B4-BE49-F238E27FC236}">
                <a16:creationId xmlns:a16="http://schemas.microsoft.com/office/drawing/2014/main" id="{6AB15399-ADF3-9FBA-D25B-EDD0ABE741C2}"/>
              </a:ext>
            </a:extLst>
          </p:cNvPr>
          <p:cNvSpPr txBox="1"/>
          <p:nvPr/>
        </p:nvSpPr>
        <p:spPr>
          <a:xfrm>
            <a:off x="9499619" y="8505111"/>
            <a:ext cx="4873327" cy="954107"/>
          </a:xfrm>
          <a:prstGeom prst="rect">
            <a:avLst/>
          </a:prstGeom>
          <a:noFill/>
        </p:spPr>
        <p:txBody>
          <a:bodyPr wrap="square">
            <a:spAutoFit/>
          </a:bodyPr>
          <a:lstStyle/>
          <a:p>
            <a:r>
              <a:rPr lang="en-US" altLang="zh-CN" sz="1400" dirty="0">
                <a:latin typeface="微软雅黑" panose="020B0503020204020204" charset="-122"/>
                <a:ea typeface="微软雅黑" panose="020B0503020204020204" charset="-122"/>
              </a:rPr>
              <a:t>We find that the effectiveness of our approach is directly supported by theoretical insights from manifold learning and further validated through instinct neural activation pathway visualization results.</a:t>
            </a:r>
          </a:p>
        </p:txBody>
      </p:sp>
      <p:pic>
        <p:nvPicPr>
          <p:cNvPr id="75" name="Picture 74">
            <a:extLst>
              <a:ext uri="{FF2B5EF4-FFF2-40B4-BE49-F238E27FC236}">
                <a16:creationId xmlns:a16="http://schemas.microsoft.com/office/drawing/2014/main" id="{02419700-DBB6-9D86-7D6E-09CF3A8A1783}"/>
              </a:ext>
            </a:extLst>
          </p:cNvPr>
          <p:cNvPicPr>
            <a:picLocks noChangeAspect="1"/>
          </p:cNvPicPr>
          <p:nvPr/>
        </p:nvPicPr>
        <p:blipFill>
          <a:blip r:embed="rId17"/>
          <a:stretch>
            <a:fillRect/>
          </a:stretch>
        </p:blipFill>
        <p:spPr>
          <a:xfrm>
            <a:off x="369900" y="9991228"/>
            <a:ext cx="6409515" cy="3477718"/>
          </a:xfrm>
          <a:prstGeom prst="rect">
            <a:avLst/>
          </a:prstGeom>
        </p:spPr>
      </p:pic>
      <p:pic>
        <p:nvPicPr>
          <p:cNvPr id="79" name="Picture 78">
            <a:extLst>
              <a:ext uri="{FF2B5EF4-FFF2-40B4-BE49-F238E27FC236}">
                <a16:creationId xmlns:a16="http://schemas.microsoft.com/office/drawing/2014/main" id="{75FF9F2C-C6AC-6B75-EE10-B7CA9072233C}"/>
              </a:ext>
            </a:extLst>
          </p:cNvPr>
          <p:cNvPicPr>
            <a:picLocks noChangeAspect="1"/>
          </p:cNvPicPr>
          <p:nvPr/>
        </p:nvPicPr>
        <p:blipFill>
          <a:blip r:embed="rId18"/>
          <a:stretch>
            <a:fillRect/>
          </a:stretch>
        </p:blipFill>
        <p:spPr>
          <a:xfrm>
            <a:off x="7384991" y="9999058"/>
            <a:ext cx="5816005" cy="5067332"/>
          </a:xfrm>
          <a:prstGeom prst="rect">
            <a:avLst/>
          </a:prstGeom>
        </p:spPr>
      </p:pic>
      <p:sp>
        <p:nvSpPr>
          <p:cNvPr id="80" name="文本框 18">
            <a:extLst>
              <a:ext uri="{FF2B5EF4-FFF2-40B4-BE49-F238E27FC236}">
                <a16:creationId xmlns:a16="http://schemas.microsoft.com/office/drawing/2014/main" id="{04E47A4C-0EDD-DF92-D705-6A2CFEFB1965}"/>
              </a:ext>
            </a:extLst>
          </p:cNvPr>
          <p:cNvSpPr txBox="1"/>
          <p:nvPr/>
        </p:nvSpPr>
        <p:spPr>
          <a:xfrm>
            <a:off x="7185658" y="9582964"/>
            <a:ext cx="7077394" cy="461665"/>
          </a:xfrm>
          <a:prstGeom prst="rect">
            <a:avLst/>
          </a:prstGeom>
          <a:noFill/>
        </p:spPr>
        <p:txBody>
          <a:bodyPr wrap="square" rtlCol="0">
            <a:spAutoFit/>
          </a:bodyPr>
          <a:lstStyle/>
          <a:p>
            <a:pPr algn="ctr"/>
            <a:r>
              <a:rPr lang="en-US" altLang="zh-CN" sz="2400" b="1" dirty="0">
                <a:solidFill>
                  <a:srgbClr val="F76902"/>
                </a:solidFill>
              </a:rPr>
              <a:t>Main Results</a:t>
            </a:r>
            <a:endParaRPr lang="zh-CN" altLang="en-US" sz="2400" b="1" dirty="0">
              <a:solidFill>
                <a:srgbClr val="F76902"/>
              </a:solidFill>
            </a:endParaRPr>
          </a:p>
        </p:txBody>
      </p:sp>
      <p:sp>
        <p:nvSpPr>
          <p:cNvPr id="82" name="TextBox 81">
            <a:extLst>
              <a:ext uri="{FF2B5EF4-FFF2-40B4-BE49-F238E27FC236}">
                <a16:creationId xmlns:a16="http://schemas.microsoft.com/office/drawing/2014/main" id="{7C8437E5-B5E7-D053-75E8-527DD7971AC1}"/>
              </a:ext>
            </a:extLst>
          </p:cNvPr>
          <p:cNvSpPr txBox="1"/>
          <p:nvPr/>
        </p:nvSpPr>
        <p:spPr>
          <a:xfrm rot="16200000">
            <a:off x="11011104" y="11993343"/>
            <a:ext cx="5358103" cy="830997"/>
          </a:xfrm>
          <a:prstGeom prst="rect">
            <a:avLst/>
          </a:prstGeom>
          <a:noFill/>
        </p:spPr>
        <p:txBody>
          <a:bodyPr wrap="square">
            <a:spAutoFit/>
          </a:bodyPr>
          <a:lstStyle/>
          <a:p>
            <a:pPr>
              <a:buNone/>
            </a:pPr>
            <a:r>
              <a:rPr lang="en-US" sz="1200">
                <a:solidFill>
                  <a:schemeClr val="bg2">
                    <a:lumMod val="75000"/>
                  </a:schemeClr>
                </a:solidFill>
                <a:effectLst/>
                <a:latin typeface="Microsoft YaHei" panose="020B0503020204020204" pitchFamily="34" charset="-122"/>
                <a:ea typeface="Microsoft YaHei" panose="020B0503020204020204" pitchFamily="34" charset="-122"/>
              </a:rPr>
              <a:t>Performance comparison result (%) on SuperGLUE development set. Para is the number of trainable parameters.</a:t>
            </a:r>
            <a:r>
              <a:rPr lang="en-US" sz="1200">
                <a:solidFill>
                  <a:schemeClr val="bg2">
                    <a:lumMod val="75000"/>
                  </a:schemeClr>
                </a:solidFill>
                <a:latin typeface="Microsoft YaHei" panose="020B0503020204020204" pitchFamily="34" charset="-122"/>
                <a:ea typeface="Microsoft YaHei" panose="020B0503020204020204" pitchFamily="34" charset="-122"/>
              </a:rPr>
              <a:t> </a:t>
            </a:r>
            <a:r>
              <a:rPr lang="en-US" sz="1200">
                <a:solidFill>
                  <a:schemeClr val="bg2">
                    <a:lumMod val="75000"/>
                  </a:schemeClr>
                </a:solidFill>
                <a:effectLst/>
                <a:latin typeface="Microsoft YaHei" panose="020B0503020204020204" pitchFamily="34" charset="-122"/>
                <a:ea typeface="Microsoft YaHei" panose="020B0503020204020204" pitchFamily="34" charset="-122"/>
              </a:rPr>
              <a:t>The best results except fine-tuning are in bold with underline representing the second best ones. For tasks with two</a:t>
            </a:r>
            <a:r>
              <a:rPr lang="en-US" sz="1200">
                <a:solidFill>
                  <a:schemeClr val="bg2">
                    <a:lumMod val="75000"/>
                  </a:schemeClr>
                </a:solidFill>
                <a:latin typeface="Microsoft YaHei" panose="020B0503020204020204" pitchFamily="34" charset="-122"/>
                <a:ea typeface="Microsoft YaHei" panose="020B0503020204020204" pitchFamily="34" charset="-122"/>
              </a:rPr>
              <a:t> </a:t>
            </a:r>
            <a:r>
              <a:rPr lang="en-US" sz="1200">
                <a:solidFill>
                  <a:schemeClr val="bg2">
                    <a:lumMod val="75000"/>
                  </a:schemeClr>
                </a:solidFill>
                <a:effectLst/>
                <a:latin typeface="Microsoft YaHei" panose="020B0503020204020204" pitchFamily="34" charset="-122"/>
                <a:ea typeface="Microsoft YaHei" panose="020B0503020204020204" pitchFamily="34" charset="-122"/>
              </a:rPr>
              <a:t>metrics, the average score is reported.</a:t>
            </a:r>
          </a:p>
        </p:txBody>
      </p:sp>
      <p:sp>
        <p:nvSpPr>
          <p:cNvPr id="84" name="文本框 37">
            <a:extLst>
              <a:ext uri="{FF2B5EF4-FFF2-40B4-BE49-F238E27FC236}">
                <a16:creationId xmlns:a16="http://schemas.microsoft.com/office/drawing/2014/main" id="{E13F0651-4561-634F-DFBB-4D23CB4A5C45}"/>
              </a:ext>
            </a:extLst>
          </p:cNvPr>
          <p:cNvSpPr txBox="1"/>
          <p:nvPr/>
        </p:nvSpPr>
        <p:spPr>
          <a:xfrm>
            <a:off x="137161" y="13939669"/>
            <a:ext cx="6901179" cy="307777"/>
          </a:xfrm>
          <a:prstGeom prst="rect">
            <a:avLst/>
          </a:prstGeom>
          <a:noFill/>
        </p:spPr>
        <p:txBody>
          <a:bodyPr wrap="square" rtlCol="0" anchor="t">
            <a:spAutoFit/>
          </a:bodyPr>
          <a:lstStyle/>
          <a:p>
            <a:pPr algn="ctr"/>
            <a:r>
              <a:rPr lang="en-US" altLang="zh-CN" sz="1400" b="1" u="sng" dirty="0" err="1">
                <a:latin typeface="微软雅黑" panose="020B0503020204020204" charset="-122"/>
                <a:ea typeface="微软雅黑" panose="020B0503020204020204" charset="-122"/>
                <a:sym typeface="+mn-ea"/>
              </a:rPr>
              <a:t>Router Experts as Representation Specialists:</a:t>
            </a:r>
            <a:endParaRPr lang="en-US" altLang="zh-CN" sz="1400" b="1" u="sng" dirty="0">
              <a:latin typeface="微软雅黑" panose="020B0503020204020204" charset="-122"/>
              <a:ea typeface="微软雅黑" panose="020B0503020204020204" charset="-122"/>
              <a:sym typeface="+mn-ea"/>
            </a:endParaRPr>
          </a:p>
        </p:txBody>
      </p:sp>
      <p:pic>
        <p:nvPicPr>
          <p:cNvPr id="85" name="Picture 84">
            <a:extLst>
              <a:ext uri="{FF2B5EF4-FFF2-40B4-BE49-F238E27FC236}">
                <a16:creationId xmlns:a16="http://schemas.microsoft.com/office/drawing/2014/main" id="{0638AC04-9D99-BBC2-0367-7E6064DF221D}"/>
              </a:ext>
            </a:extLst>
          </p:cNvPr>
          <p:cNvPicPr>
            <a:picLocks noChangeAspect="1"/>
          </p:cNvPicPr>
          <p:nvPr/>
        </p:nvPicPr>
        <p:blipFill>
          <a:blip r:embed="rId19"/>
          <a:stretch>
            <a:fillRect/>
          </a:stretch>
        </p:blipFill>
        <p:spPr>
          <a:xfrm>
            <a:off x="2810069" y="14215334"/>
            <a:ext cx="1833159" cy="296601"/>
          </a:xfrm>
          <a:prstGeom prst="rect">
            <a:avLst/>
          </a:prstGeom>
        </p:spPr>
      </p:pic>
      <p:sp>
        <p:nvSpPr>
          <p:cNvPr id="86" name="文本框 37">
            <a:extLst>
              <a:ext uri="{FF2B5EF4-FFF2-40B4-BE49-F238E27FC236}">
                <a16:creationId xmlns:a16="http://schemas.microsoft.com/office/drawing/2014/main" id="{2D83C3B2-7879-46F0-2BDF-590E56B215F0}"/>
              </a:ext>
            </a:extLst>
          </p:cNvPr>
          <p:cNvSpPr txBox="1"/>
          <p:nvPr/>
        </p:nvSpPr>
        <p:spPr>
          <a:xfrm>
            <a:off x="127080" y="14458155"/>
            <a:ext cx="6901180" cy="307777"/>
          </a:xfrm>
          <a:prstGeom prst="rect">
            <a:avLst/>
          </a:prstGeom>
          <a:noFill/>
        </p:spPr>
        <p:txBody>
          <a:bodyPr wrap="square" rtlCol="0" anchor="t">
            <a:spAutoFit/>
          </a:bodyPr>
          <a:lstStyle/>
          <a:p>
            <a:pPr algn="ctr"/>
            <a:r>
              <a:rPr lang="en-US" altLang="zh-CN" sz="1400" b="1" u="sng" dirty="0" err="1">
                <a:latin typeface="微软雅黑" panose="020B0503020204020204" charset="-122"/>
                <a:ea typeface="微软雅黑" panose="020B0503020204020204" charset="-122"/>
                <a:sym typeface="+mn-ea"/>
              </a:rPr>
              <a:t>Training MEPT is to build a manifold mapper:</a:t>
            </a:r>
            <a:endParaRPr lang="en-US" altLang="zh-CN" sz="1400" b="1" u="sng" dirty="0">
              <a:latin typeface="微软雅黑" panose="020B0503020204020204" charset="-122"/>
              <a:ea typeface="微软雅黑" panose="020B0503020204020204" charset="-122"/>
              <a:sym typeface="+mn-ea"/>
            </a:endParaRPr>
          </a:p>
        </p:txBody>
      </p:sp>
      <p:pic>
        <p:nvPicPr>
          <p:cNvPr id="87" name="Picture 86">
            <a:extLst>
              <a:ext uri="{FF2B5EF4-FFF2-40B4-BE49-F238E27FC236}">
                <a16:creationId xmlns:a16="http://schemas.microsoft.com/office/drawing/2014/main" id="{B1AE351C-FB8D-E9BC-EA29-FD2F1BEB5B81}"/>
              </a:ext>
            </a:extLst>
          </p:cNvPr>
          <p:cNvPicPr>
            <a:picLocks noChangeAspect="1"/>
          </p:cNvPicPr>
          <p:nvPr/>
        </p:nvPicPr>
        <p:blipFill>
          <a:blip r:embed="rId20"/>
          <a:stretch>
            <a:fillRect/>
          </a:stretch>
        </p:blipFill>
        <p:spPr>
          <a:xfrm>
            <a:off x="2988230" y="14734725"/>
            <a:ext cx="1507871" cy="291986"/>
          </a:xfrm>
          <a:prstGeom prst="rect">
            <a:avLst/>
          </a:prstGeom>
        </p:spPr>
      </p:pic>
      <p:sp>
        <p:nvSpPr>
          <p:cNvPr id="38" name="文本框 37">
            <a:extLst>
              <a:ext uri="{FF2B5EF4-FFF2-40B4-BE49-F238E27FC236}">
                <a16:creationId xmlns:a16="http://schemas.microsoft.com/office/drawing/2014/main" id="{86DB3CB4-162A-C604-ED90-A27A634DD0EA}"/>
              </a:ext>
            </a:extLst>
          </p:cNvPr>
          <p:cNvSpPr txBox="1"/>
          <p:nvPr/>
        </p:nvSpPr>
        <p:spPr>
          <a:xfrm>
            <a:off x="134808" y="13387678"/>
            <a:ext cx="6893452" cy="307777"/>
          </a:xfrm>
          <a:prstGeom prst="rect">
            <a:avLst/>
          </a:prstGeom>
          <a:noFill/>
        </p:spPr>
        <p:txBody>
          <a:bodyPr wrap="square" rtlCol="0" anchor="t">
            <a:spAutoFit/>
          </a:bodyPr>
          <a:lstStyle/>
          <a:p>
            <a:pPr algn="ctr"/>
            <a:r>
              <a:rPr lang="en-US" altLang="zh-CN" sz="1400" b="1" u="sng" dirty="0" err="1">
                <a:latin typeface="微软雅黑" panose="020B0503020204020204" charset="-122"/>
                <a:ea typeface="微软雅黑" panose="020B0503020204020204" charset="-122"/>
                <a:sym typeface="+mn-ea"/>
              </a:rPr>
              <a:t>Router Experts as Representation Specialists:</a:t>
            </a:r>
            <a:endParaRPr lang="en-US" altLang="zh-CN" sz="1400" b="1" u="sng" dirty="0">
              <a:latin typeface="微软雅黑" panose="020B0503020204020204" charset="-122"/>
              <a:ea typeface="微软雅黑" panose="020B0503020204020204" charset="-122"/>
              <a:sym typeface="+mn-ea"/>
            </a:endParaRPr>
          </a:p>
        </p:txBody>
      </p:sp>
      <p:sp>
        <p:nvSpPr>
          <p:cNvPr id="88" name="文本框 37">
            <a:extLst>
              <a:ext uri="{FF2B5EF4-FFF2-40B4-BE49-F238E27FC236}">
                <a16:creationId xmlns:a16="http://schemas.microsoft.com/office/drawing/2014/main" id="{6779D711-E51B-F96D-FCAA-2CCC575421E3}"/>
              </a:ext>
            </a:extLst>
          </p:cNvPr>
          <p:cNvSpPr txBox="1"/>
          <p:nvPr/>
        </p:nvSpPr>
        <p:spPr>
          <a:xfrm>
            <a:off x="223195" y="19524315"/>
            <a:ext cx="7161796" cy="1384995"/>
          </a:xfrm>
          <a:prstGeom prst="rect">
            <a:avLst/>
          </a:prstGeom>
          <a:noFill/>
        </p:spPr>
        <p:txBody>
          <a:bodyPr wrap="square" rtlCol="0" anchor="t">
            <a:spAutoFit/>
          </a:bodyPr>
          <a:lstStyle/>
          <a:p>
            <a:r>
              <a:rPr lang="en-US" altLang="zh-CN" sz="1400" b="1" u="sng" dirty="0" err="1">
                <a:latin typeface="微软雅黑" panose="020B0503020204020204" charset="-122"/>
                <a:ea typeface="微软雅黑" panose="020B0503020204020204" charset="-122"/>
                <a:sym typeface="+mn-ea"/>
              </a:rPr>
              <a:t>Observation I: Neural activation pathways vary across distinct manifolds</a:t>
            </a:r>
            <a:r>
              <a:rPr lang="en-US" altLang="zh-CN" sz="1400" b="1" u="sng" dirty="0">
                <a:latin typeface="微软雅黑" panose="020B0503020204020204" charset="-122"/>
                <a:ea typeface="微软雅黑" panose="020B0503020204020204" charset="-122"/>
                <a:sym typeface="+mn-ea"/>
              </a:rPr>
              <a:t>:</a:t>
            </a:r>
          </a:p>
          <a:p>
            <a:r>
              <a:rPr lang="en-US" altLang="zh-CN" sz="1400" dirty="0">
                <a:latin typeface="微软雅黑" panose="020B0503020204020204" charset="-122"/>
                <a:ea typeface="微软雅黑" panose="020B0503020204020204" charset="-122"/>
                <a:sym typeface="+mn-ea"/>
              </a:rPr>
              <a:t>Observations from three tasks (MultiRC, BoolQ, COPA) in (b) show task-specific pathways, where semantically closer tasks (MultiRC, BoolQ) activate overlapping experts with higher similarity (MAE 2.88 vs. 2.44, cosine 95.18 vs. 96.72) than COPA. For example, MultiRC and BoolQ share expert 1 in L2, while COPA prefers expert 9, reflecting heterogeneous expert preferences.</a:t>
            </a:r>
          </a:p>
        </p:txBody>
      </p:sp>
      <p:sp>
        <p:nvSpPr>
          <p:cNvPr id="90" name="文本框 37">
            <a:extLst>
              <a:ext uri="{FF2B5EF4-FFF2-40B4-BE49-F238E27FC236}">
                <a16:creationId xmlns:a16="http://schemas.microsoft.com/office/drawing/2014/main" id="{A2AF85B6-4FAB-8A0A-4CFA-CC879CCB9BF0}"/>
              </a:ext>
            </a:extLst>
          </p:cNvPr>
          <p:cNvSpPr txBox="1"/>
          <p:nvPr/>
        </p:nvSpPr>
        <p:spPr>
          <a:xfrm>
            <a:off x="7220639" y="19524315"/>
            <a:ext cx="6885015" cy="1384995"/>
          </a:xfrm>
          <a:prstGeom prst="rect">
            <a:avLst/>
          </a:prstGeom>
          <a:noFill/>
        </p:spPr>
        <p:txBody>
          <a:bodyPr wrap="square" rtlCol="0" anchor="t">
            <a:spAutoFit/>
          </a:bodyPr>
          <a:lstStyle/>
          <a:p>
            <a:r>
              <a:rPr lang="en-US" altLang="zh-CN" sz="1400" b="1" u="sng" dirty="0" err="1">
                <a:latin typeface="微软雅黑" panose="020B0503020204020204" charset="-122"/>
                <a:ea typeface="微软雅黑" panose="020B0503020204020204" charset="-122"/>
                <a:sym typeface="+mn-ea"/>
              </a:rPr>
              <a:t>Observation II: The improved linear separability of manifold mappings is facilitated by MEPT</a:t>
            </a:r>
            <a:r>
              <a:rPr lang="en-US" altLang="zh-CN" sz="1400" b="1" u="sng" dirty="0">
                <a:latin typeface="微软雅黑" panose="020B0503020204020204" charset="-122"/>
                <a:ea typeface="微软雅黑" panose="020B0503020204020204" charset="-122"/>
                <a:sym typeface="+mn-ea"/>
              </a:rPr>
              <a:t>:</a:t>
            </a:r>
            <a:r>
              <a:rPr lang="en-US" altLang="zh-CN" sz="1400" b="1"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As shown in (a)</a:t>
            </a:r>
            <a:r>
              <a:rPr lang="zh-CN" altLang="en-US" sz="1400"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and</a:t>
            </a:r>
            <a:r>
              <a:rPr lang="zh-CN" altLang="en-US" sz="1400"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(c), the combined dataset without MEPT yields entangled groups with poor boundaries, while MEPT training produces clear margins, compact clusters (e.g., green group), and stronger alignment of task representations across classes, enabling better separability consistent with the</a:t>
            </a:r>
            <a:r>
              <a:rPr lang="zh-CN" altLang="en-US" sz="1400"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table</a:t>
            </a:r>
            <a:r>
              <a:rPr lang="zh-CN" altLang="en-US" sz="1400"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results</a:t>
            </a:r>
            <a:r>
              <a:rPr lang="zh-CN" altLang="en-US" sz="1400"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above.</a:t>
            </a:r>
          </a:p>
        </p:txBody>
      </p:sp>
      <p:pic>
        <p:nvPicPr>
          <p:cNvPr id="10" name="Picture 9">
            <a:extLst>
              <a:ext uri="{FF2B5EF4-FFF2-40B4-BE49-F238E27FC236}">
                <a16:creationId xmlns:a16="http://schemas.microsoft.com/office/drawing/2014/main" id="{1DC7E7DB-A74E-B114-8257-2411F48BA019}"/>
              </a:ext>
            </a:extLst>
          </p:cNvPr>
          <p:cNvPicPr>
            <a:picLocks noChangeAspect="1"/>
          </p:cNvPicPr>
          <p:nvPr/>
        </p:nvPicPr>
        <p:blipFill>
          <a:blip r:embed="rId21"/>
          <a:stretch>
            <a:fillRect/>
          </a:stretch>
        </p:blipFill>
        <p:spPr>
          <a:xfrm>
            <a:off x="543765" y="7863824"/>
            <a:ext cx="2413000" cy="965200"/>
          </a:xfrm>
          <a:prstGeom prst="rect">
            <a:avLst/>
          </a:prstGeom>
        </p:spPr>
      </p:pic>
      <p:pic>
        <p:nvPicPr>
          <p:cNvPr id="12" name="Picture 11">
            <a:extLst>
              <a:ext uri="{FF2B5EF4-FFF2-40B4-BE49-F238E27FC236}">
                <a16:creationId xmlns:a16="http://schemas.microsoft.com/office/drawing/2014/main" id="{26BB9539-1AB5-01DF-544D-EA4A2B338723}"/>
              </a:ext>
            </a:extLst>
          </p:cNvPr>
          <p:cNvPicPr>
            <a:picLocks noChangeAspect="1"/>
          </p:cNvPicPr>
          <p:nvPr/>
        </p:nvPicPr>
        <p:blipFill>
          <a:blip r:embed="rId22"/>
          <a:stretch>
            <a:fillRect/>
          </a:stretch>
        </p:blipFill>
        <p:spPr>
          <a:xfrm>
            <a:off x="4115994" y="7863824"/>
            <a:ext cx="2476500" cy="965200"/>
          </a:xfrm>
          <a:prstGeom prst="rect">
            <a:avLst/>
          </a:prstGeom>
        </p:spPr>
      </p:pic>
      <p:pic>
        <p:nvPicPr>
          <p:cNvPr id="14" name="Picture 13">
            <a:extLst>
              <a:ext uri="{FF2B5EF4-FFF2-40B4-BE49-F238E27FC236}">
                <a16:creationId xmlns:a16="http://schemas.microsoft.com/office/drawing/2014/main" id="{E00853FB-6A39-577F-3B6A-808B68D0C9FF}"/>
              </a:ext>
            </a:extLst>
          </p:cNvPr>
          <p:cNvPicPr>
            <a:picLocks noChangeAspect="1"/>
          </p:cNvPicPr>
          <p:nvPr/>
        </p:nvPicPr>
        <p:blipFill>
          <a:blip r:embed="rId23"/>
          <a:stretch>
            <a:fillRect/>
          </a:stretch>
        </p:blipFill>
        <p:spPr>
          <a:xfrm>
            <a:off x="9729810" y="7863824"/>
            <a:ext cx="3238500" cy="965200"/>
          </a:xfrm>
          <a:prstGeom prst="rect">
            <a:avLst/>
          </a:prstGeom>
        </p:spPr>
      </p:pic>
      <p:pic>
        <p:nvPicPr>
          <p:cNvPr id="20" name="Picture 19">
            <a:extLst>
              <a:ext uri="{FF2B5EF4-FFF2-40B4-BE49-F238E27FC236}">
                <a16:creationId xmlns:a16="http://schemas.microsoft.com/office/drawing/2014/main" id="{DFDCB090-B95E-5F84-C081-95CFEDAA3542}"/>
              </a:ext>
            </a:extLst>
          </p:cNvPr>
          <p:cNvPicPr>
            <a:picLocks noChangeAspect="1"/>
          </p:cNvPicPr>
          <p:nvPr/>
        </p:nvPicPr>
        <p:blipFill>
          <a:blip r:embed="rId24"/>
          <a:stretch>
            <a:fillRect/>
          </a:stretch>
        </p:blipFill>
        <p:spPr>
          <a:xfrm>
            <a:off x="-144035" y="59595"/>
            <a:ext cx="7772400" cy="1793630"/>
          </a:xfrm>
          <a:prstGeom prst="rect">
            <a:avLst/>
          </a:prstGeom>
        </p:spPr>
      </p:pic>
    </p:spTree>
    <p:custDataLst>
      <p:tags r:id="rId1"/>
    </p:custDataLst>
    <p:extLst>
      <p:ext uri="{BB962C8B-B14F-4D97-AF65-F5344CB8AC3E}">
        <p14:creationId xmlns:p14="http://schemas.microsoft.com/office/powerpoint/2010/main" val="12094858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QwOGJjMjA4MWU4MWRiN2Q0NTM0YWQ2ZjIzMWRlYjY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TotalTime>
  <Words>667</Words>
  <Application>Microsoft Macintosh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Wingdings</vt:lpstr>
      <vt:lpstr>Microsoft YaHei</vt:lpstr>
      <vt:lpstr>Microsoft YaHei</vt:lpstr>
      <vt:lpstr>Arial</vt:lpstr>
      <vt:lpstr>Times New Roman</vt:lpstr>
      <vt:lpstr>Nura Black</vt:lpstr>
      <vt:lpstr>WPS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张辰皓</dc:creator>
  <cp:lastModifiedBy>Runjia Zeng</cp:lastModifiedBy>
  <cp:revision>227</cp:revision>
  <cp:lastPrinted>2025-09-22T23:57:12Z</cp:lastPrinted>
  <dcterms:created xsi:type="dcterms:W3CDTF">2019-06-19T02:08:00Z</dcterms:created>
  <dcterms:modified xsi:type="dcterms:W3CDTF">2025-10-01T18:33:12Z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7060A2C9D886472B8FA7A8EB388306BD_12</vt:lpwstr>
  </property>
</Properties>
</file>